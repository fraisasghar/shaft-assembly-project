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67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-assets.solidworks.com/b6a588c2f8b6e0e052496ba9450c49cb8634655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45" b="24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04900" y="38100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Mechanical Engineering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0759"/>
            <a:ext cx="1188720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Mechanical Shaft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Support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Design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7489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4000" y="4541540"/>
            <a:ext cx="3267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CAD-Based Design &amp; Modeling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5528" y="59150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9613" y="586740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January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3381" y="62579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9613" y="62103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Engineering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32021" y="59055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E07A5F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15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14450"/>
            <a:ext cx="3962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288631"/>
            <a:ext cx="3705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exploration of mechanical shaft design methodology, from conceptualization to CAD implementation.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5353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5543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5372100"/>
            <a:ext cx="157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 Sections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56769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Content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6343650"/>
            <a:ext cx="3619500" cy="57150"/>
          </a:xfrm>
          <a:custGeom>
            <a:avLst/>
            <a:gdLst/>
            <a:ahLst/>
            <a:cxnLst/>
            <a:rect l="l" t="t" r="r" b="b"/>
            <a:pathLst>
              <a:path w="3619500" h="57150">
                <a:moveTo>
                  <a:pt x="0" y="0"/>
                </a:moveTo>
                <a:lnTo>
                  <a:pt x="3619500" y="0"/>
                </a:lnTo>
                <a:lnTo>
                  <a:pt x="36195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C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76750" y="114300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76750" y="11430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44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76775" y="1371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0" y="13716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4000" y="1676400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 and objectives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05800" y="114300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05800" y="11430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345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5825" y="1371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63050" y="137160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63050" y="1676400"/>
            <a:ext cx="1724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goals and targets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76750" y="234315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76750" y="23431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2440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76775" y="25717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0" y="25717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4000" y="2876550"/>
            <a:ext cx="1647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Shaft and support parts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05800" y="234315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5800" y="23431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5345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05825" y="25717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63050" y="257175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63050" y="2876550"/>
            <a:ext cx="1457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elements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76750" y="354330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76750" y="35433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24400" y="3771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76775" y="3771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34000" y="377190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34000" y="4076700"/>
            <a:ext cx="1514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process steps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05800" y="354330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05800" y="35433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53450" y="3771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05825" y="3771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63050" y="377190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63050" y="4076700"/>
            <a:ext cx="1752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considerations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76750" y="474345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476750" y="4743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24400" y="4972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76775" y="49720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34000" y="49720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&amp; Tools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34000" y="527685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 developed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05800" y="4743450"/>
            <a:ext cx="3505200" cy="971550"/>
          </a:xfrm>
          <a:custGeom>
            <a:avLst/>
            <a:gdLst/>
            <a:ahLst/>
            <a:cxnLst/>
            <a:rect l="l" t="t" r="r" b="b"/>
            <a:pathLst>
              <a:path w="3505200" h="971550">
                <a:moveTo>
                  <a:pt x="38100" y="0"/>
                </a:moveTo>
                <a:lnTo>
                  <a:pt x="3429001" y="0"/>
                </a:lnTo>
                <a:cubicBezTo>
                  <a:pt x="3471085" y="0"/>
                  <a:pt x="3505200" y="34115"/>
                  <a:pt x="3505200" y="76199"/>
                </a:cubicBezTo>
                <a:lnTo>
                  <a:pt x="3505200" y="895351"/>
                </a:lnTo>
                <a:cubicBezTo>
                  <a:pt x="3505200" y="937435"/>
                  <a:pt x="3471085" y="971550"/>
                  <a:pt x="342900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05800" y="4743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553450" y="4972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505825" y="49720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63050" y="497205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63050" y="5276850"/>
            <a:ext cx="1457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learnings gained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0" y="0"/>
                </a:moveTo>
                <a:lnTo>
                  <a:pt x="533400" y="0"/>
                </a:lnTo>
                <a:lnTo>
                  <a:pt x="533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" y="38100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268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7771" y="4953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4A5C6A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6096000" cy="2419350"/>
          </a:xfrm>
          <a:custGeom>
            <a:avLst/>
            <a:gdLst/>
            <a:ahLst/>
            <a:cxnLst/>
            <a:rect l="l" t="t" r="r" b="b"/>
            <a:pathLst>
              <a:path w="6096000" h="2419350">
                <a:moveTo>
                  <a:pt x="38100" y="0"/>
                </a:moveTo>
                <a:lnTo>
                  <a:pt x="6019790" y="0"/>
                </a:lnTo>
                <a:cubicBezTo>
                  <a:pt x="6061880" y="0"/>
                  <a:pt x="6096000" y="34120"/>
                  <a:pt x="6096000" y="76210"/>
                </a:cubicBezTo>
                <a:lnTo>
                  <a:pt x="6096000" y="2343140"/>
                </a:lnTo>
                <a:cubicBezTo>
                  <a:pt x="6096000" y="2385230"/>
                  <a:pt x="6061880" y="2419350"/>
                  <a:pt x="6019790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4097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39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8206" y="1876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24000" y="1714500"/>
            <a:ext cx="4781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Focus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2133600"/>
            <a:ext cx="47529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centers on the </a:t>
            </a: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and modeling of a mechanical shaft</a:t>
            </a: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along with its supporting structure using advanced CAD software. The development process strictly adheres to engineering drawing standards and precise dimensional specifications.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4333875"/>
            <a:ext cx="6096000" cy="2143125"/>
          </a:xfrm>
          <a:custGeom>
            <a:avLst/>
            <a:gdLst/>
            <a:ahLst/>
            <a:cxnLst/>
            <a:rect l="l" t="t" r="r" b="b"/>
            <a:pathLst>
              <a:path w="6096000" h="2143125">
                <a:moveTo>
                  <a:pt x="38100" y="0"/>
                </a:moveTo>
                <a:lnTo>
                  <a:pt x="6019790" y="0"/>
                </a:lnTo>
                <a:cubicBezTo>
                  <a:pt x="6061880" y="0"/>
                  <a:pt x="6096000" y="34120"/>
                  <a:pt x="6096000" y="76210"/>
                </a:cubicBezTo>
                <a:lnTo>
                  <a:pt x="6096000" y="2066915"/>
                </a:lnTo>
                <a:cubicBezTo>
                  <a:pt x="6096000" y="2109005"/>
                  <a:pt x="6061880" y="2143125"/>
                  <a:pt x="6019790" y="2143125"/>
                </a:cubicBez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0050" y="4333875"/>
            <a:ext cx="38100" cy="2143125"/>
          </a:xfrm>
          <a:custGeom>
            <a:avLst/>
            <a:gdLst/>
            <a:ahLst/>
            <a:cxnLst/>
            <a:rect l="l" t="t" r="r" b="b"/>
            <a:pathLst>
              <a:path w="38100" h="2143125">
                <a:moveTo>
                  <a:pt x="38100" y="0"/>
                </a:moveTo>
                <a:lnTo>
                  <a:pt x="38100" y="0"/>
                </a:lnTo>
                <a:lnTo>
                  <a:pt x="38100" y="2143125"/>
                </a:lnTo>
                <a:lnTo>
                  <a:pt x="38100" y="2143125"/>
                </a:lnTo>
                <a:cubicBezTo>
                  <a:pt x="17072" y="2143125"/>
                  <a:pt x="0" y="2126053"/>
                  <a:pt x="0" y="2105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3900" y="4638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0347" y="48006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24000" y="4638675"/>
            <a:ext cx="4781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Purpose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5057775"/>
            <a:ext cx="47529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primary objective is to </a:t>
            </a: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practical understanding</a:t>
            </a: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mechanical design principles and component modeling techniques. This hands-on experience bridges theoretical knowledge with real-world engineering applications.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04621" y="1409700"/>
            <a:ext cx="5010150" cy="3819525"/>
          </a:xfrm>
          <a:custGeom>
            <a:avLst/>
            <a:gdLst/>
            <a:ahLst/>
            <a:cxnLst/>
            <a:rect l="l" t="t" r="r" b="b"/>
            <a:pathLst>
              <a:path w="5010150" h="3819525">
                <a:moveTo>
                  <a:pt x="76200" y="0"/>
                </a:moveTo>
                <a:lnTo>
                  <a:pt x="4933950" y="0"/>
                </a:lnTo>
                <a:cubicBezTo>
                  <a:pt x="4976034" y="0"/>
                  <a:pt x="5010150" y="34116"/>
                  <a:pt x="5010150" y="76200"/>
                </a:cubicBezTo>
                <a:lnTo>
                  <a:pt x="5010150" y="3743325"/>
                </a:lnTo>
                <a:cubicBezTo>
                  <a:pt x="5010150" y="3785409"/>
                  <a:pt x="4976034" y="3819525"/>
                  <a:pt x="4933950" y="3819525"/>
                </a:cubicBezTo>
                <a:lnTo>
                  <a:pt x="76200" y="3819525"/>
                </a:lnTo>
                <a:cubicBezTo>
                  <a:pt x="34116" y="3819525"/>
                  <a:pt x="0" y="3785409"/>
                  <a:pt x="0" y="37433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https://kimi-web-img.moonshot.cn/img/elite-cad.com/477325703c81871677ea727ab4e771b7d5a845ea.jpg"/>
          <p:cNvPicPr>
            <a:picLocks noChangeAspect="1"/>
          </p:cNvPicPr>
          <p:nvPr/>
        </p:nvPicPr>
        <p:blipFill>
          <a:blip r:embed="rId3"/>
          <a:srcRect l="6631" r="6631"/>
          <a:stretch/>
        </p:blipFill>
        <p:spPr>
          <a:xfrm>
            <a:off x="6804621" y="1409700"/>
            <a:ext cx="5010150" cy="3819525"/>
          </a:xfrm>
          <a:prstGeom prst="roundRect">
            <a:avLst>
              <a:gd name="adj" fmla="val 1995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6807796" y="5457826"/>
            <a:ext cx="2416175" cy="1016000"/>
          </a:xfrm>
          <a:custGeom>
            <a:avLst/>
            <a:gdLst/>
            <a:ahLst/>
            <a:cxnLst/>
            <a:rect l="l" t="t" r="r" b="b"/>
            <a:pathLst>
              <a:path w="2416175" h="1016000">
                <a:moveTo>
                  <a:pt x="76200" y="0"/>
                </a:moveTo>
                <a:lnTo>
                  <a:pt x="2339975" y="0"/>
                </a:lnTo>
                <a:cubicBezTo>
                  <a:pt x="2382031" y="0"/>
                  <a:pt x="2416175" y="34144"/>
                  <a:pt x="2416175" y="76200"/>
                </a:cubicBezTo>
                <a:lnTo>
                  <a:pt x="2416175" y="939800"/>
                </a:lnTo>
                <a:cubicBezTo>
                  <a:pt x="2416175" y="981884"/>
                  <a:pt x="2382059" y="1016000"/>
                  <a:pt x="2339975" y="1016000"/>
                </a:cubicBezTo>
                <a:lnTo>
                  <a:pt x="76200" y="1016000"/>
                </a:lnTo>
                <a:cubicBezTo>
                  <a:pt x="34116" y="1016000"/>
                  <a:pt x="0" y="981884"/>
                  <a:pt x="0" y="939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877572" y="56515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55420" y="142931"/>
                </a:moveTo>
                <a:lnTo>
                  <a:pt x="94152" y="76014"/>
                </a:lnTo>
                <a:cubicBezTo>
                  <a:pt x="91027" y="69205"/>
                  <a:pt x="89241" y="61615"/>
                  <a:pt x="89241" y="53578"/>
                </a:cubicBezTo>
                <a:cubicBezTo>
                  <a:pt x="89241" y="23999"/>
                  <a:pt x="113240" y="0"/>
                  <a:pt x="142819" y="0"/>
                </a:cubicBezTo>
                <a:cubicBezTo>
                  <a:pt x="172399" y="0"/>
                  <a:pt x="196397" y="23999"/>
                  <a:pt x="196397" y="53578"/>
                </a:cubicBezTo>
                <a:cubicBezTo>
                  <a:pt x="196397" y="61559"/>
                  <a:pt x="194667" y="69149"/>
                  <a:pt x="191486" y="76014"/>
                </a:cubicBezTo>
                <a:lnTo>
                  <a:pt x="216266" y="118821"/>
                </a:lnTo>
                <a:cubicBezTo>
                  <a:pt x="203374" y="133331"/>
                  <a:pt x="186296" y="143991"/>
                  <a:pt x="166929" y="148847"/>
                </a:cubicBezTo>
                <a:lnTo>
                  <a:pt x="142875" y="107100"/>
                </a:lnTo>
                <a:lnTo>
                  <a:pt x="104868" y="172734"/>
                </a:lnTo>
                <a:cubicBezTo>
                  <a:pt x="116867" y="176529"/>
                  <a:pt x="129592" y="178594"/>
                  <a:pt x="142875" y="178594"/>
                </a:cubicBezTo>
                <a:cubicBezTo>
                  <a:pt x="182333" y="178594"/>
                  <a:pt x="217550" y="160344"/>
                  <a:pt x="240488" y="131713"/>
                </a:cubicBezTo>
                <a:cubicBezTo>
                  <a:pt x="246683" y="124011"/>
                  <a:pt x="257901" y="122783"/>
                  <a:pt x="265602" y="128922"/>
                </a:cubicBezTo>
                <a:cubicBezTo>
                  <a:pt x="273304" y="135062"/>
                  <a:pt x="274532" y="146335"/>
                  <a:pt x="268393" y="154037"/>
                </a:cubicBezTo>
                <a:cubicBezTo>
                  <a:pt x="238981" y="190760"/>
                  <a:pt x="193663" y="214313"/>
                  <a:pt x="142931" y="214313"/>
                </a:cubicBezTo>
                <a:cubicBezTo>
                  <a:pt x="123174" y="214313"/>
                  <a:pt x="104198" y="210741"/>
                  <a:pt x="86730" y="204211"/>
                </a:cubicBezTo>
                <a:lnTo>
                  <a:pt x="55085" y="258794"/>
                </a:lnTo>
                <a:cubicBezTo>
                  <a:pt x="52462" y="263314"/>
                  <a:pt x="48555" y="266998"/>
                  <a:pt x="43867" y="269342"/>
                </a:cubicBezTo>
                <a:lnTo>
                  <a:pt x="12948" y="284801"/>
                </a:lnTo>
                <a:cubicBezTo>
                  <a:pt x="10158" y="286196"/>
                  <a:pt x="6865" y="286029"/>
                  <a:pt x="4242" y="284411"/>
                </a:cubicBezTo>
                <a:cubicBezTo>
                  <a:pt x="1619" y="282792"/>
                  <a:pt x="0" y="279890"/>
                  <a:pt x="0" y="276820"/>
                </a:cubicBezTo>
                <a:lnTo>
                  <a:pt x="0" y="245901"/>
                </a:lnTo>
                <a:cubicBezTo>
                  <a:pt x="0" y="241213"/>
                  <a:pt x="1228" y="236581"/>
                  <a:pt x="3628" y="232451"/>
                </a:cubicBezTo>
                <a:lnTo>
                  <a:pt x="37114" y="174575"/>
                </a:lnTo>
                <a:cubicBezTo>
                  <a:pt x="29970" y="168325"/>
                  <a:pt x="23385" y="161460"/>
                  <a:pt x="17413" y="154037"/>
                </a:cubicBezTo>
                <a:cubicBezTo>
                  <a:pt x="11218" y="146335"/>
                  <a:pt x="12502" y="135117"/>
                  <a:pt x="20203" y="128922"/>
                </a:cubicBezTo>
                <a:cubicBezTo>
                  <a:pt x="27905" y="122727"/>
                  <a:pt x="39123" y="124011"/>
                  <a:pt x="45318" y="131713"/>
                </a:cubicBezTo>
                <a:cubicBezTo>
                  <a:pt x="48499" y="135675"/>
                  <a:pt x="51904" y="139415"/>
                  <a:pt x="55476" y="142931"/>
                </a:cubicBezTo>
                <a:close/>
                <a:moveTo>
                  <a:pt x="212694" y="227651"/>
                </a:moveTo>
                <a:cubicBezTo>
                  <a:pt x="230832" y="220396"/>
                  <a:pt x="247520" y="210350"/>
                  <a:pt x="262310" y="198127"/>
                </a:cubicBezTo>
                <a:lnTo>
                  <a:pt x="282178" y="232451"/>
                </a:lnTo>
                <a:cubicBezTo>
                  <a:pt x="284522" y="236525"/>
                  <a:pt x="285806" y="241157"/>
                  <a:pt x="285806" y="245901"/>
                </a:cubicBezTo>
                <a:lnTo>
                  <a:pt x="285806" y="276820"/>
                </a:lnTo>
                <a:cubicBezTo>
                  <a:pt x="285806" y="279890"/>
                  <a:pt x="284187" y="282792"/>
                  <a:pt x="281564" y="284411"/>
                </a:cubicBezTo>
                <a:cubicBezTo>
                  <a:pt x="278941" y="286029"/>
                  <a:pt x="275648" y="286196"/>
                  <a:pt x="272858" y="284801"/>
                </a:cubicBezTo>
                <a:lnTo>
                  <a:pt x="241939" y="269342"/>
                </a:lnTo>
                <a:cubicBezTo>
                  <a:pt x="237251" y="266998"/>
                  <a:pt x="233344" y="263314"/>
                  <a:pt x="230721" y="258794"/>
                </a:cubicBezTo>
                <a:lnTo>
                  <a:pt x="212694" y="227651"/>
                </a:lnTo>
                <a:close/>
                <a:moveTo>
                  <a:pt x="142875" y="71438"/>
                </a:moveTo>
                <a:cubicBezTo>
                  <a:pt x="152732" y="71438"/>
                  <a:pt x="160734" y="63435"/>
                  <a:pt x="160734" y="53578"/>
                </a:cubicBez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58608" y="6013452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 Modeling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387185" y="5457826"/>
            <a:ext cx="2416175" cy="1016000"/>
          </a:xfrm>
          <a:custGeom>
            <a:avLst/>
            <a:gdLst/>
            <a:ahLst/>
            <a:cxnLst/>
            <a:rect l="l" t="t" r="r" b="b"/>
            <a:pathLst>
              <a:path w="2416175" h="1016000">
                <a:moveTo>
                  <a:pt x="76200" y="0"/>
                </a:moveTo>
                <a:lnTo>
                  <a:pt x="2339975" y="0"/>
                </a:lnTo>
                <a:cubicBezTo>
                  <a:pt x="2382031" y="0"/>
                  <a:pt x="2416175" y="34144"/>
                  <a:pt x="2416175" y="76200"/>
                </a:cubicBezTo>
                <a:lnTo>
                  <a:pt x="2416175" y="939800"/>
                </a:lnTo>
                <a:cubicBezTo>
                  <a:pt x="2416175" y="981884"/>
                  <a:pt x="2382059" y="1016000"/>
                  <a:pt x="2339975" y="1016000"/>
                </a:cubicBezTo>
                <a:lnTo>
                  <a:pt x="76200" y="1016000"/>
                </a:lnTo>
                <a:cubicBezTo>
                  <a:pt x="34116" y="1016000"/>
                  <a:pt x="0" y="981884"/>
                  <a:pt x="0" y="939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0474821" y="565150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558" y="246515"/>
                </a:moveTo>
                <a:cubicBezTo>
                  <a:pt x="3070" y="258682"/>
                  <a:pt x="13841" y="267891"/>
                  <a:pt x="26789" y="267891"/>
                </a:cubicBezTo>
                <a:lnTo>
                  <a:pt x="223242" y="267891"/>
                </a:lnTo>
                <a:cubicBezTo>
                  <a:pt x="238032" y="267891"/>
                  <a:pt x="250031" y="255891"/>
                  <a:pt x="250031" y="241102"/>
                </a:cubicBezTo>
                <a:lnTo>
                  <a:pt x="250031" y="187523"/>
                </a:lnTo>
                <a:cubicBezTo>
                  <a:pt x="250031" y="172734"/>
                  <a:pt x="238032" y="160734"/>
                  <a:pt x="223242" y="160734"/>
                </a:cubicBezTo>
                <a:lnTo>
                  <a:pt x="196453" y="160734"/>
                </a:lnTo>
                <a:lnTo>
                  <a:pt x="196453" y="200918"/>
                </a:lnTo>
                <a:cubicBezTo>
                  <a:pt x="196453" y="208341"/>
                  <a:pt x="190481" y="214313"/>
                  <a:pt x="183059" y="214313"/>
                </a:cubicBezTo>
                <a:cubicBezTo>
                  <a:pt x="175636" y="214313"/>
                  <a:pt x="169664" y="208341"/>
                  <a:pt x="169664" y="200918"/>
                </a:cubicBezTo>
                <a:lnTo>
                  <a:pt x="169664" y="160734"/>
                </a:lnTo>
                <a:lnTo>
                  <a:pt x="133945" y="160734"/>
                </a:lnTo>
                <a:lnTo>
                  <a:pt x="133945" y="200918"/>
                </a:lnTo>
                <a:cubicBezTo>
                  <a:pt x="133945" y="208341"/>
                  <a:pt x="127974" y="214313"/>
                  <a:pt x="120551" y="214313"/>
                </a:cubicBezTo>
                <a:cubicBezTo>
                  <a:pt x="113128" y="214313"/>
                  <a:pt x="107156" y="208341"/>
                  <a:pt x="107156" y="200918"/>
                </a:cubicBezTo>
                <a:lnTo>
                  <a:pt x="107156" y="160734"/>
                </a:lnTo>
                <a:lnTo>
                  <a:pt x="66973" y="160734"/>
                </a:lnTo>
                <a:cubicBezTo>
                  <a:pt x="59550" y="160734"/>
                  <a:pt x="53578" y="154763"/>
                  <a:pt x="53578" y="147340"/>
                </a:cubicBezTo>
                <a:cubicBezTo>
                  <a:pt x="53578" y="139917"/>
                  <a:pt x="59550" y="133945"/>
                  <a:pt x="66973" y="133945"/>
                </a:cubicBezTo>
                <a:lnTo>
                  <a:pt x="107156" y="133945"/>
                </a:lnTo>
                <a:lnTo>
                  <a:pt x="107156" y="98227"/>
                </a:lnTo>
                <a:lnTo>
                  <a:pt x="66973" y="98227"/>
                </a:lnTo>
                <a:cubicBezTo>
                  <a:pt x="59550" y="98227"/>
                  <a:pt x="53578" y="92255"/>
                  <a:pt x="53578" y="84832"/>
                </a:cubicBezTo>
                <a:cubicBezTo>
                  <a:pt x="53578" y="77409"/>
                  <a:pt x="59550" y="71438"/>
                  <a:pt x="66973" y="71438"/>
                </a:cubicBezTo>
                <a:lnTo>
                  <a:pt x="107156" y="71438"/>
                </a:lnTo>
                <a:lnTo>
                  <a:pt x="107156" y="44648"/>
                </a:lnTo>
                <a:cubicBezTo>
                  <a:pt x="107156" y="29859"/>
                  <a:pt x="95157" y="17859"/>
                  <a:pt x="80367" y="17859"/>
                </a:cubicBezTo>
                <a:lnTo>
                  <a:pt x="26789" y="17859"/>
                </a:lnTo>
                <a:cubicBezTo>
                  <a:pt x="11999" y="17859"/>
                  <a:pt x="0" y="29859"/>
                  <a:pt x="0" y="44648"/>
                </a:cubicBezTo>
                <a:lnTo>
                  <a:pt x="0" y="241102"/>
                </a:lnTo>
                <a:cubicBezTo>
                  <a:pt x="0" y="242943"/>
                  <a:pt x="167" y="244785"/>
                  <a:pt x="558" y="24651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537998" y="6013452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126" y="457658"/>
            <a:ext cx="512577" cy="36613"/>
          </a:xfrm>
          <a:custGeom>
            <a:avLst/>
            <a:gdLst/>
            <a:ahLst/>
            <a:cxnLst/>
            <a:rect l="l" t="t" r="r" b="b"/>
            <a:pathLst>
              <a:path w="512577" h="36613">
                <a:moveTo>
                  <a:pt x="0" y="0"/>
                </a:moveTo>
                <a:lnTo>
                  <a:pt x="512577" y="0"/>
                </a:lnTo>
                <a:lnTo>
                  <a:pt x="512577" y="36613"/>
                </a:lnTo>
                <a:lnTo>
                  <a:pt x="0" y="3661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8541" y="366126"/>
            <a:ext cx="1043459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kern="0" spc="115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126" y="695640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6126" y="1208216"/>
            <a:ext cx="1155127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strategic goals guiding the design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32" y="1610955"/>
            <a:ext cx="5620036" cy="2169297"/>
          </a:xfrm>
          <a:custGeom>
            <a:avLst/>
            <a:gdLst/>
            <a:ahLst/>
            <a:cxnLst/>
            <a:rect l="l" t="t" r="r" b="b"/>
            <a:pathLst>
              <a:path w="5620036" h="2169297">
                <a:moveTo>
                  <a:pt x="36613" y="0"/>
                </a:moveTo>
                <a:lnTo>
                  <a:pt x="5546801" y="0"/>
                </a:lnTo>
                <a:cubicBezTo>
                  <a:pt x="5587247" y="0"/>
                  <a:pt x="5620036" y="32789"/>
                  <a:pt x="5620036" y="73235"/>
                </a:cubicBezTo>
                <a:lnTo>
                  <a:pt x="5620036" y="2096062"/>
                </a:lnTo>
                <a:cubicBezTo>
                  <a:pt x="5620036" y="2136509"/>
                  <a:pt x="5587247" y="2169297"/>
                  <a:pt x="5546801" y="2169297"/>
                </a:cubicBezTo>
                <a:lnTo>
                  <a:pt x="36613" y="2169297"/>
                </a:lnTo>
                <a:cubicBezTo>
                  <a:pt x="16406" y="2169297"/>
                  <a:pt x="0" y="2152892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432" y="1610955"/>
            <a:ext cx="36613" cy="2169297"/>
          </a:xfrm>
          <a:custGeom>
            <a:avLst/>
            <a:gdLst/>
            <a:ahLst/>
            <a:cxnLst/>
            <a:rect l="l" t="t" r="r" b="b"/>
            <a:pathLst>
              <a:path w="36613" h="2169297">
                <a:moveTo>
                  <a:pt x="36613" y="0"/>
                </a:moveTo>
                <a:lnTo>
                  <a:pt x="36613" y="0"/>
                </a:lnTo>
                <a:lnTo>
                  <a:pt x="36613" y="2169297"/>
                </a:lnTo>
                <a:lnTo>
                  <a:pt x="36613" y="2169297"/>
                </a:lnTo>
                <a:cubicBezTo>
                  <a:pt x="16392" y="2169297"/>
                  <a:pt x="0" y="2152905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2414" y="1830631"/>
            <a:ext cx="512577" cy="512577"/>
          </a:xfrm>
          <a:custGeom>
            <a:avLst/>
            <a:gdLst/>
            <a:ahLst/>
            <a:cxnLst/>
            <a:rect l="l" t="t" r="r" b="b"/>
            <a:pathLst>
              <a:path w="512577" h="512577">
                <a:moveTo>
                  <a:pt x="256288" y="0"/>
                </a:moveTo>
                <a:lnTo>
                  <a:pt x="256288" y="0"/>
                </a:lnTo>
                <a:cubicBezTo>
                  <a:pt x="397738" y="0"/>
                  <a:pt x="512577" y="114839"/>
                  <a:pt x="512577" y="256288"/>
                </a:cubicBezTo>
                <a:lnTo>
                  <a:pt x="512577" y="256288"/>
                </a:lnTo>
                <a:cubicBezTo>
                  <a:pt x="512577" y="397738"/>
                  <a:pt x="397738" y="512577"/>
                  <a:pt x="256288" y="512577"/>
                </a:cubicBezTo>
                <a:lnTo>
                  <a:pt x="256288" y="512577"/>
                </a:lnTo>
                <a:cubicBezTo>
                  <a:pt x="114839" y="512577"/>
                  <a:pt x="0" y="397738"/>
                  <a:pt x="0" y="256288"/>
                </a:cubicBezTo>
                <a:lnTo>
                  <a:pt x="0" y="256288"/>
                </a:lnTo>
                <a:cubicBezTo>
                  <a:pt x="0" y="114839"/>
                  <a:pt x="114839" y="0"/>
                  <a:pt x="25628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7495" y="1830631"/>
            <a:ext cx="622414" cy="51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1441" y="1903856"/>
            <a:ext cx="2050306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Precise Shaft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2414" y="2489658"/>
            <a:ext cx="5244757" cy="1070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</a:t>
            </a:r>
            <a:r>
              <a:rPr lang="en-US" sz="1297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precise mechanical shaft model</a:t>
            </a: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featuring stepped geometry with multiple diameter transitions. This includes accurate representation of functional sections, bearing seats, and connection points essential for real-world mechanical systems.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3741" y="1610955"/>
            <a:ext cx="5620036" cy="2169297"/>
          </a:xfrm>
          <a:custGeom>
            <a:avLst/>
            <a:gdLst/>
            <a:ahLst/>
            <a:cxnLst/>
            <a:rect l="l" t="t" r="r" b="b"/>
            <a:pathLst>
              <a:path w="5620036" h="2169297">
                <a:moveTo>
                  <a:pt x="36613" y="0"/>
                </a:moveTo>
                <a:lnTo>
                  <a:pt x="5546801" y="0"/>
                </a:lnTo>
                <a:cubicBezTo>
                  <a:pt x="5587247" y="0"/>
                  <a:pt x="5620036" y="32789"/>
                  <a:pt x="5620036" y="73235"/>
                </a:cubicBezTo>
                <a:lnTo>
                  <a:pt x="5620036" y="2096062"/>
                </a:lnTo>
                <a:cubicBezTo>
                  <a:pt x="5620036" y="2136509"/>
                  <a:pt x="5587247" y="2169297"/>
                  <a:pt x="5546801" y="2169297"/>
                </a:cubicBezTo>
                <a:lnTo>
                  <a:pt x="36613" y="2169297"/>
                </a:lnTo>
                <a:cubicBezTo>
                  <a:pt x="16406" y="2169297"/>
                  <a:pt x="0" y="2152892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03741" y="1610955"/>
            <a:ext cx="36613" cy="2169297"/>
          </a:xfrm>
          <a:custGeom>
            <a:avLst/>
            <a:gdLst/>
            <a:ahLst/>
            <a:cxnLst/>
            <a:rect l="l" t="t" r="r" b="b"/>
            <a:pathLst>
              <a:path w="36613" h="2169297">
                <a:moveTo>
                  <a:pt x="36613" y="0"/>
                </a:moveTo>
                <a:lnTo>
                  <a:pt x="36613" y="0"/>
                </a:lnTo>
                <a:lnTo>
                  <a:pt x="36613" y="2169297"/>
                </a:lnTo>
                <a:lnTo>
                  <a:pt x="36613" y="2169297"/>
                </a:lnTo>
                <a:cubicBezTo>
                  <a:pt x="16392" y="2169297"/>
                  <a:pt x="0" y="2152905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1723" y="1830631"/>
            <a:ext cx="512577" cy="512577"/>
          </a:xfrm>
          <a:custGeom>
            <a:avLst/>
            <a:gdLst/>
            <a:ahLst/>
            <a:cxnLst/>
            <a:rect l="l" t="t" r="r" b="b"/>
            <a:pathLst>
              <a:path w="512577" h="512577">
                <a:moveTo>
                  <a:pt x="256288" y="0"/>
                </a:moveTo>
                <a:lnTo>
                  <a:pt x="256288" y="0"/>
                </a:lnTo>
                <a:cubicBezTo>
                  <a:pt x="397738" y="0"/>
                  <a:pt x="512577" y="114839"/>
                  <a:pt x="512577" y="256288"/>
                </a:cubicBezTo>
                <a:lnTo>
                  <a:pt x="512577" y="256288"/>
                </a:lnTo>
                <a:cubicBezTo>
                  <a:pt x="512577" y="397738"/>
                  <a:pt x="397738" y="512577"/>
                  <a:pt x="256288" y="512577"/>
                </a:cubicBezTo>
                <a:lnTo>
                  <a:pt x="256288" y="512577"/>
                </a:lnTo>
                <a:cubicBezTo>
                  <a:pt x="114839" y="512577"/>
                  <a:pt x="0" y="397738"/>
                  <a:pt x="0" y="256288"/>
                </a:cubicBezTo>
                <a:lnTo>
                  <a:pt x="0" y="256288"/>
                </a:lnTo>
                <a:cubicBezTo>
                  <a:pt x="0" y="114839"/>
                  <a:pt x="114839" y="0"/>
                  <a:pt x="25628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6804" y="1830631"/>
            <a:ext cx="622414" cy="51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00750" y="1903856"/>
            <a:ext cx="2215063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Dimensioning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1723" y="2489658"/>
            <a:ext cx="5244757" cy="1070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</a:t>
            </a:r>
            <a:r>
              <a:rPr lang="en-US" sz="1297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dimensioning and geometric features</a:t>
            </a: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following engineering standards. Implement proper tolerances, surface finishes, and geometric dimensioning to ensure manufacturability and functional performance.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432" y="3963315"/>
            <a:ext cx="5620036" cy="2169297"/>
          </a:xfrm>
          <a:custGeom>
            <a:avLst/>
            <a:gdLst/>
            <a:ahLst/>
            <a:cxnLst/>
            <a:rect l="l" t="t" r="r" b="b"/>
            <a:pathLst>
              <a:path w="5620036" h="2169297">
                <a:moveTo>
                  <a:pt x="36613" y="0"/>
                </a:moveTo>
                <a:lnTo>
                  <a:pt x="5546801" y="0"/>
                </a:lnTo>
                <a:cubicBezTo>
                  <a:pt x="5587247" y="0"/>
                  <a:pt x="5620036" y="32789"/>
                  <a:pt x="5620036" y="73235"/>
                </a:cubicBezTo>
                <a:lnTo>
                  <a:pt x="5620036" y="2096062"/>
                </a:lnTo>
                <a:cubicBezTo>
                  <a:pt x="5620036" y="2136509"/>
                  <a:pt x="5587247" y="2169297"/>
                  <a:pt x="5546801" y="2169297"/>
                </a:cubicBezTo>
                <a:lnTo>
                  <a:pt x="36613" y="2169297"/>
                </a:lnTo>
                <a:cubicBezTo>
                  <a:pt x="16406" y="2169297"/>
                  <a:pt x="0" y="2152892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432" y="3963315"/>
            <a:ext cx="36613" cy="2169297"/>
          </a:xfrm>
          <a:custGeom>
            <a:avLst/>
            <a:gdLst/>
            <a:ahLst/>
            <a:cxnLst/>
            <a:rect l="l" t="t" r="r" b="b"/>
            <a:pathLst>
              <a:path w="36613" h="2169297">
                <a:moveTo>
                  <a:pt x="36613" y="0"/>
                </a:moveTo>
                <a:lnTo>
                  <a:pt x="36613" y="0"/>
                </a:lnTo>
                <a:lnTo>
                  <a:pt x="36613" y="2169297"/>
                </a:lnTo>
                <a:lnTo>
                  <a:pt x="36613" y="2169297"/>
                </a:lnTo>
                <a:cubicBezTo>
                  <a:pt x="16392" y="2169297"/>
                  <a:pt x="0" y="2152905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2414" y="4316856"/>
            <a:ext cx="512577" cy="512577"/>
          </a:xfrm>
          <a:custGeom>
            <a:avLst/>
            <a:gdLst/>
            <a:ahLst/>
            <a:cxnLst/>
            <a:rect l="l" t="t" r="r" b="b"/>
            <a:pathLst>
              <a:path w="512577" h="512577">
                <a:moveTo>
                  <a:pt x="256288" y="0"/>
                </a:moveTo>
                <a:lnTo>
                  <a:pt x="256288" y="0"/>
                </a:lnTo>
                <a:cubicBezTo>
                  <a:pt x="397738" y="0"/>
                  <a:pt x="512577" y="114839"/>
                  <a:pt x="512577" y="256288"/>
                </a:cubicBezTo>
                <a:lnTo>
                  <a:pt x="512577" y="256288"/>
                </a:lnTo>
                <a:cubicBezTo>
                  <a:pt x="512577" y="397738"/>
                  <a:pt x="397738" y="512577"/>
                  <a:pt x="256288" y="512577"/>
                </a:cubicBezTo>
                <a:lnTo>
                  <a:pt x="256288" y="512577"/>
                </a:lnTo>
                <a:cubicBezTo>
                  <a:pt x="114839" y="512577"/>
                  <a:pt x="0" y="397738"/>
                  <a:pt x="0" y="256288"/>
                </a:cubicBezTo>
                <a:lnTo>
                  <a:pt x="0" y="256288"/>
                </a:lnTo>
                <a:cubicBezTo>
                  <a:pt x="0" y="114839"/>
                  <a:pt x="114839" y="0"/>
                  <a:pt x="25628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7495" y="4316856"/>
            <a:ext cx="622414" cy="51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1441" y="4390081"/>
            <a:ext cx="2572036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for Manufacturing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2414" y="4975883"/>
            <a:ext cx="5244757" cy="8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the critical importance of </a:t>
            </a:r>
            <a:r>
              <a:rPr lang="en-US" sz="1297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for manufacturing (DFM)</a:t>
            </a: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principles. Consider machining constraints, assembly requirements, and cost-effective production methods throughout the design process.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3741" y="3963315"/>
            <a:ext cx="5620036" cy="2169297"/>
          </a:xfrm>
          <a:custGeom>
            <a:avLst/>
            <a:gdLst/>
            <a:ahLst/>
            <a:cxnLst/>
            <a:rect l="l" t="t" r="r" b="b"/>
            <a:pathLst>
              <a:path w="5620036" h="2169297">
                <a:moveTo>
                  <a:pt x="36613" y="0"/>
                </a:moveTo>
                <a:lnTo>
                  <a:pt x="5546801" y="0"/>
                </a:lnTo>
                <a:cubicBezTo>
                  <a:pt x="5587247" y="0"/>
                  <a:pt x="5620036" y="32789"/>
                  <a:pt x="5620036" y="73235"/>
                </a:cubicBezTo>
                <a:lnTo>
                  <a:pt x="5620036" y="2096062"/>
                </a:lnTo>
                <a:cubicBezTo>
                  <a:pt x="5620036" y="2136509"/>
                  <a:pt x="5587247" y="2169297"/>
                  <a:pt x="5546801" y="2169297"/>
                </a:cubicBezTo>
                <a:lnTo>
                  <a:pt x="36613" y="2169297"/>
                </a:lnTo>
                <a:cubicBezTo>
                  <a:pt x="16406" y="2169297"/>
                  <a:pt x="0" y="2152892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03741" y="3963315"/>
            <a:ext cx="36613" cy="2169297"/>
          </a:xfrm>
          <a:custGeom>
            <a:avLst/>
            <a:gdLst/>
            <a:ahLst/>
            <a:cxnLst/>
            <a:rect l="l" t="t" r="r" b="b"/>
            <a:pathLst>
              <a:path w="36613" h="2169297">
                <a:moveTo>
                  <a:pt x="36613" y="0"/>
                </a:moveTo>
                <a:lnTo>
                  <a:pt x="36613" y="0"/>
                </a:lnTo>
                <a:lnTo>
                  <a:pt x="36613" y="2169297"/>
                </a:lnTo>
                <a:lnTo>
                  <a:pt x="36613" y="2169297"/>
                </a:lnTo>
                <a:cubicBezTo>
                  <a:pt x="16392" y="2169297"/>
                  <a:pt x="0" y="2152905"/>
                  <a:pt x="0" y="2132685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1723" y="4182991"/>
            <a:ext cx="512577" cy="512577"/>
          </a:xfrm>
          <a:custGeom>
            <a:avLst/>
            <a:gdLst/>
            <a:ahLst/>
            <a:cxnLst/>
            <a:rect l="l" t="t" r="r" b="b"/>
            <a:pathLst>
              <a:path w="512577" h="512577">
                <a:moveTo>
                  <a:pt x="256288" y="0"/>
                </a:moveTo>
                <a:lnTo>
                  <a:pt x="256288" y="0"/>
                </a:lnTo>
                <a:cubicBezTo>
                  <a:pt x="397738" y="0"/>
                  <a:pt x="512577" y="114839"/>
                  <a:pt x="512577" y="256288"/>
                </a:cubicBezTo>
                <a:lnTo>
                  <a:pt x="512577" y="256288"/>
                </a:lnTo>
                <a:cubicBezTo>
                  <a:pt x="512577" y="397738"/>
                  <a:pt x="397738" y="512577"/>
                  <a:pt x="256288" y="512577"/>
                </a:cubicBezTo>
                <a:lnTo>
                  <a:pt x="256288" y="512577"/>
                </a:lnTo>
                <a:cubicBezTo>
                  <a:pt x="114839" y="512577"/>
                  <a:pt x="0" y="397738"/>
                  <a:pt x="0" y="256288"/>
                </a:cubicBezTo>
                <a:lnTo>
                  <a:pt x="0" y="256288"/>
                </a:lnTo>
                <a:cubicBezTo>
                  <a:pt x="0" y="114839"/>
                  <a:pt x="114839" y="0"/>
                  <a:pt x="25628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86804" y="4182991"/>
            <a:ext cx="622414" cy="51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00750" y="4256216"/>
            <a:ext cx="2279135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Drawing Interpretation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1723" y="4842018"/>
            <a:ext cx="5244757" cy="1070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</a:t>
            </a:r>
            <a:r>
              <a:rPr lang="en-US" sz="1297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 of technical engineering drawings</a:t>
            </a:r>
            <a:r>
              <a:rPr lang="en-US" sz="129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 Develop skills in reading orthographic projections, section views, detail drawings, and understanding dimensional chains and geometric relationships.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9177" y="6282114"/>
            <a:ext cx="11447544" cy="573598"/>
          </a:xfrm>
          <a:custGeom>
            <a:avLst/>
            <a:gdLst/>
            <a:ahLst/>
            <a:cxnLst/>
            <a:rect l="l" t="t" r="r" b="b"/>
            <a:pathLst>
              <a:path w="11447544" h="573598">
                <a:moveTo>
                  <a:pt x="73225" y="0"/>
                </a:moveTo>
                <a:lnTo>
                  <a:pt x="11374318" y="0"/>
                </a:lnTo>
                <a:cubicBezTo>
                  <a:pt x="11414759" y="0"/>
                  <a:pt x="11447544" y="32784"/>
                  <a:pt x="11447544" y="73225"/>
                </a:cubicBezTo>
                <a:lnTo>
                  <a:pt x="11447544" y="500372"/>
                </a:lnTo>
                <a:cubicBezTo>
                  <a:pt x="11447544" y="540813"/>
                  <a:pt x="11414759" y="573598"/>
                  <a:pt x="11374318" y="573598"/>
                </a:cubicBezTo>
                <a:lnTo>
                  <a:pt x="73225" y="573598"/>
                </a:lnTo>
                <a:cubicBezTo>
                  <a:pt x="32811" y="573598"/>
                  <a:pt x="0" y="540786"/>
                  <a:pt x="0" y="500372"/>
                </a:cubicBezTo>
                <a:lnTo>
                  <a:pt x="0" y="73225"/>
                </a:lnTo>
                <a:cubicBezTo>
                  <a:pt x="0" y="32811"/>
                  <a:pt x="32811" y="0"/>
                  <a:pt x="7322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9616" y="6431616"/>
            <a:ext cx="205946" cy="274595"/>
          </a:xfrm>
          <a:custGeom>
            <a:avLst/>
            <a:gdLst/>
            <a:ahLst/>
            <a:cxnLst/>
            <a:rect l="l" t="t" r="r" b="b"/>
            <a:pathLst>
              <a:path w="205946" h="274595">
                <a:moveTo>
                  <a:pt x="157087" y="205946"/>
                </a:moveTo>
                <a:cubicBezTo>
                  <a:pt x="161003" y="193986"/>
                  <a:pt x="168833" y="183152"/>
                  <a:pt x="177682" y="173821"/>
                </a:cubicBezTo>
                <a:cubicBezTo>
                  <a:pt x="195220" y="155371"/>
                  <a:pt x="205946" y="130432"/>
                  <a:pt x="205946" y="102973"/>
                </a:cubicBezTo>
                <a:cubicBezTo>
                  <a:pt x="205946" y="46123"/>
                  <a:pt x="159823" y="0"/>
                  <a:pt x="102973" y="0"/>
                </a:cubicBezTo>
                <a:cubicBezTo>
                  <a:pt x="46123" y="0"/>
                  <a:pt x="0" y="46123"/>
                  <a:pt x="0" y="102973"/>
                </a:cubicBezTo>
                <a:cubicBezTo>
                  <a:pt x="0" y="130432"/>
                  <a:pt x="10726" y="155371"/>
                  <a:pt x="28264" y="173821"/>
                </a:cubicBezTo>
                <a:cubicBezTo>
                  <a:pt x="37113" y="183152"/>
                  <a:pt x="44997" y="193986"/>
                  <a:pt x="48859" y="205946"/>
                </a:cubicBezTo>
                <a:lnTo>
                  <a:pt x="157034" y="205946"/>
                </a:lnTo>
                <a:close/>
                <a:moveTo>
                  <a:pt x="154459" y="231689"/>
                </a:moveTo>
                <a:lnTo>
                  <a:pt x="51486" y="231689"/>
                </a:lnTo>
                <a:lnTo>
                  <a:pt x="51486" y="240270"/>
                </a:lnTo>
                <a:cubicBezTo>
                  <a:pt x="51486" y="263976"/>
                  <a:pt x="70687" y="283176"/>
                  <a:pt x="94392" y="283176"/>
                </a:cubicBezTo>
                <a:lnTo>
                  <a:pt x="111554" y="283176"/>
                </a:lnTo>
                <a:cubicBezTo>
                  <a:pt x="135259" y="283176"/>
                  <a:pt x="154459" y="263976"/>
                  <a:pt x="154459" y="240270"/>
                </a:cubicBezTo>
                <a:lnTo>
                  <a:pt x="154459" y="231689"/>
                </a:lnTo>
                <a:close/>
                <a:moveTo>
                  <a:pt x="98682" y="60068"/>
                </a:moveTo>
                <a:cubicBezTo>
                  <a:pt x="77337" y="60068"/>
                  <a:pt x="60068" y="77337"/>
                  <a:pt x="60068" y="98682"/>
                </a:cubicBezTo>
                <a:cubicBezTo>
                  <a:pt x="60068" y="105815"/>
                  <a:pt x="54329" y="111554"/>
                  <a:pt x="47196" y="111554"/>
                </a:cubicBezTo>
                <a:cubicBezTo>
                  <a:pt x="40063" y="111554"/>
                  <a:pt x="34324" y="105815"/>
                  <a:pt x="34324" y="98682"/>
                </a:cubicBezTo>
                <a:cubicBezTo>
                  <a:pt x="34324" y="63125"/>
                  <a:pt x="63125" y="34324"/>
                  <a:pt x="98682" y="34324"/>
                </a:cubicBezTo>
                <a:cubicBezTo>
                  <a:pt x="105815" y="34324"/>
                  <a:pt x="111554" y="40063"/>
                  <a:pt x="111554" y="47196"/>
                </a:cubicBezTo>
                <a:cubicBezTo>
                  <a:pt x="111554" y="54329"/>
                  <a:pt x="105815" y="60068"/>
                  <a:pt x="98682" y="6006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08372" y="6440770"/>
            <a:ext cx="9089081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29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objective builds upon the previous, creating a comprehensive foundation in mechanical design competency.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0" y="0"/>
                </a:moveTo>
                <a:lnTo>
                  <a:pt x="533400" y="0"/>
                </a:lnTo>
                <a:lnTo>
                  <a:pt x="533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" y="38100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Description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127" y="49530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4A5C6A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333500"/>
            <a:ext cx="7181850" cy="2476500"/>
          </a:xfrm>
          <a:custGeom>
            <a:avLst/>
            <a:gdLst/>
            <a:ahLst/>
            <a:cxnLst/>
            <a:rect l="l" t="t" r="r" b="b"/>
            <a:pathLst>
              <a:path w="7181850" h="2476500">
                <a:moveTo>
                  <a:pt x="38100" y="0"/>
                </a:moveTo>
                <a:lnTo>
                  <a:pt x="7105648" y="0"/>
                </a:lnTo>
                <a:cubicBezTo>
                  <a:pt x="7147733" y="0"/>
                  <a:pt x="7181850" y="34117"/>
                  <a:pt x="7181850" y="76202"/>
                </a:cubicBezTo>
                <a:lnTo>
                  <a:pt x="7181850" y="2400298"/>
                </a:lnTo>
                <a:cubicBezTo>
                  <a:pt x="7181850" y="2442383"/>
                  <a:pt x="7147733" y="2476500"/>
                  <a:pt x="710564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333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7700" y="15823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2006" y="17442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226926"/>
                </a:moveTo>
                <a:lnTo>
                  <a:pt x="226926" y="280504"/>
                </a:lnTo>
                <a:cubicBezTo>
                  <a:pt x="221791" y="285638"/>
                  <a:pt x="214145" y="287145"/>
                  <a:pt x="207448" y="284355"/>
                </a:cubicBezTo>
                <a:cubicBezTo>
                  <a:pt x="200751" y="281564"/>
                  <a:pt x="196453" y="275090"/>
                  <a:pt x="196453" y="267891"/>
                </a:cubicBezTo>
                <a:lnTo>
                  <a:pt x="196453" y="232172"/>
                </a:ln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196453" y="196453"/>
                </a:lnTo>
                <a:lnTo>
                  <a:pt x="196453" y="160734"/>
                </a:lnTo>
                <a:cubicBezTo>
                  <a:pt x="196453" y="153535"/>
                  <a:pt x="200806" y="147005"/>
                  <a:pt x="207504" y="144214"/>
                </a:cubicBezTo>
                <a:cubicBezTo>
                  <a:pt x="214201" y="141424"/>
                  <a:pt x="221847" y="142987"/>
                  <a:pt x="226981" y="148065"/>
                </a:cubicBezTo>
                <a:lnTo>
                  <a:pt x="280560" y="201644"/>
                </a:lnTo>
                <a:cubicBezTo>
                  <a:pt x="287536" y="208620"/>
                  <a:pt x="287536" y="219949"/>
                  <a:pt x="280560" y="226926"/>
                </a:cubicBezTo>
                <a:close/>
                <a:moveTo>
                  <a:pt x="5246" y="84051"/>
                </a:moveTo>
                <a:cubicBezTo>
                  <a:pt x="-1730" y="77074"/>
                  <a:pt x="-1730" y="65745"/>
                  <a:pt x="5246" y="58769"/>
                </a:cubicBezTo>
                <a:lnTo>
                  <a:pt x="58824" y="5190"/>
                </a:lnTo>
                <a:cubicBezTo>
                  <a:pt x="63959" y="56"/>
                  <a:pt x="71605" y="-1451"/>
                  <a:pt x="78302" y="1339"/>
                </a:cubicBezTo>
                <a:cubicBezTo>
                  <a:pt x="84999" y="4130"/>
                  <a:pt x="89297" y="10660"/>
                  <a:pt x="89297" y="17859"/>
                </a:cubicBezTo>
                <a:lnTo>
                  <a:pt x="89297" y="53578"/>
                </a:lnTo>
                <a:lnTo>
                  <a:pt x="267891" y="53578"/>
                </a:lnTo>
                <a:cubicBezTo>
                  <a:pt x="277769" y="53578"/>
                  <a:pt x="285750" y="61559"/>
                  <a:pt x="285750" y="71438"/>
                </a:cubicBezTo>
                <a:cubicBezTo>
                  <a:pt x="285750" y="81316"/>
                  <a:pt x="277769" y="89297"/>
                  <a:pt x="267891" y="89297"/>
                </a:cubicBezTo>
                <a:lnTo>
                  <a:pt x="89297" y="89297"/>
                </a:lnTo>
                <a:lnTo>
                  <a:pt x="89297" y="125016"/>
                </a:lnTo>
                <a:cubicBezTo>
                  <a:pt x="89297" y="132215"/>
                  <a:pt x="84944" y="138745"/>
                  <a:pt x="78246" y="141536"/>
                </a:cubicBezTo>
                <a:cubicBezTo>
                  <a:pt x="71549" y="144326"/>
                  <a:pt x="63903" y="142763"/>
                  <a:pt x="58769" y="137685"/>
                </a:cubicBezTo>
                <a:lnTo>
                  <a:pt x="5190" y="8410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47800" y="1582341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Stepped Mechanical Shaft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7800" y="2001441"/>
            <a:ext cx="5991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primary component is a </a:t>
            </a: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stepped mechanical shaft</a:t>
            </a: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featuring strategic diameter variations along its length. These stepped sections serve distinct functional purposes: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47800" y="30658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2989659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Bearing mounting surfaces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57700" y="30658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0100" y="2989659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Gear/pulley seats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47800" y="34087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00200" y="3332559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Fillet radii for stress relief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7700" y="34087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0100" y="3332559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length sections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4000500"/>
            <a:ext cx="7181850" cy="2476500"/>
          </a:xfrm>
          <a:custGeom>
            <a:avLst/>
            <a:gdLst/>
            <a:ahLst/>
            <a:cxnLst/>
            <a:rect l="l" t="t" r="r" b="b"/>
            <a:pathLst>
              <a:path w="7181850" h="2476500">
                <a:moveTo>
                  <a:pt x="38100" y="0"/>
                </a:moveTo>
                <a:lnTo>
                  <a:pt x="7105648" y="0"/>
                </a:lnTo>
                <a:cubicBezTo>
                  <a:pt x="7147733" y="0"/>
                  <a:pt x="7181850" y="34117"/>
                  <a:pt x="7181850" y="76202"/>
                </a:cubicBezTo>
                <a:lnTo>
                  <a:pt x="7181850" y="2400298"/>
                </a:lnTo>
                <a:cubicBezTo>
                  <a:pt x="7181850" y="2442383"/>
                  <a:pt x="7147733" y="2476500"/>
                  <a:pt x="710564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0050" y="4000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7700" y="438864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2006" y="455056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183" y="-1395"/>
                </a:moveTo>
                <a:cubicBezTo>
                  <a:pt x="136234" y="-7758"/>
                  <a:pt x="149851" y="-7758"/>
                  <a:pt x="160902" y="-1395"/>
                </a:cubicBezTo>
                <a:lnTo>
                  <a:pt x="259073" y="55252"/>
                </a:lnTo>
                <a:cubicBezTo>
                  <a:pt x="270123" y="61615"/>
                  <a:pt x="276932" y="73447"/>
                  <a:pt x="276932" y="86171"/>
                </a:cubicBezTo>
                <a:lnTo>
                  <a:pt x="276932" y="199467"/>
                </a:lnTo>
                <a:cubicBezTo>
                  <a:pt x="276932" y="212248"/>
                  <a:pt x="270123" y="224024"/>
                  <a:pt x="259073" y="230386"/>
                </a:cubicBezTo>
                <a:lnTo>
                  <a:pt x="160902" y="287145"/>
                </a:lnTo>
                <a:cubicBezTo>
                  <a:pt x="149851" y="293508"/>
                  <a:pt x="136234" y="293508"/>
                  <a:pt x="125183" y="287145"/>
                </a:cubicBezTo>
                <a:lnTo>
                  <a:pt x="27068" y="230498"/>
                </a:lnTo>
                <a:cubicBezTo>
                  <a:pt x="16018" y="224135"/>
                  <a:pt x="9209" y="212303"/>
                  <a:pt x="9209" y="199579"/>
                </a:cubicBezTo>
                <a:lnTo>
                  <a:pt x="9209" y="86283"/>
                </a:lnTo>
                <a:cubicBezTo>
                  <a:pt x="9209" y="73502"/>
                  <a:pt x="16018" y="61726"/>
                  <a:pt x="27068" y="55364"/>
                </a:cubicBezTo>
                <a:lnTo>
                  <a:pt x="125183" y="-1395"/>
                </a:lnTo>
                <a:close/>
                <a:moveTo>
                  <a:pt x="241157" y="199523"/>
                </a:moveTo>
                <a:lnTo>
                  <a:pt x="241157" y="106821"/>
                </a:lnTo>
                <a:lnTo>
                  <a:pt x="160902" y="153144"/>
                </a:lnTo>
                <a:lnTo>
                  <a:pt x="160902" y="245845"/>
                </a:lnTo>
                <a:lnTo>
                  <a:pt x="241157" y="19952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47800" y="4388644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Bracket/Base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47800" y="4807744"/>
            <a:ext cx="5991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bracket or base component</a:t>
            </a: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engineered to securely hold the shaft while maintaining structural stability under operational loads: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47800" y="55935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00200" y="5517356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Bearing housing integration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7700" y="55935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0100" y="5517356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Mounting flange design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47800" y="59364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00200" y="5860256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Rib reinforcement structure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7700" y="59364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0100" y="5860256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Alignment features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10500" y="1333500"/>
            <a:ext cx="4000500" cy="3438525"/>
          </a:xfrm>
          <a:custGeom>
            <a:avLst/>
            <a:gdLst/>
            <a:ahLst/>
            <a:cxnLst/>
            <a:rect l="l" t="t" r="r" b="b"/>
            <a:pathLst>
              <a:path w="4000500" h="3438525">
                <a:moveTo>
                  <a:pt x="76198" y="0"/>
                </a:moveTo>
                <a:lnTo>
                  <a:pt x="3924302" y="0"/>
                </a:lnTo>
                <a:cubicBezTo>
                  <a:pt x="3966357" y="0"/>
                  <a:pt x="4000500" y="34143"/>
                  <a:pt x="4000500" y="76198"/>
                </a:cubicBezTo>
                <a:lnTo>
                  <a:pt x="4000500" y="3362327"/>
                </a:lnTo>
                <a:cubicBezTo>
                  <a:pt x="4000500" y="3404382"/>
                  <a:pt x="3966357" y="3438525"/>
                  <a:pt x="3924302" y="3438525"/>
                </a:cubicBezTo>
                <a:lnTo>
                  <a:pt x="76198" y="3438525"/>
                </a:lnTo>
                <a:cubicBezTo>
                  <a:pt x="34143" y="3438525"/>
                  <a:pt x="0" y="3404382"/>
                  <a:pt x="0" y="33623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0" descr="https://kimi-web-img.moonshot.cn/img/cdn.cadcrowd.com/ef6bf853b2763d118812f07bbca9df86ae65d8f5.jpg"/>
          <p:cNvPicPr>
            <a:picLocks noChangeAspect="1"/>
          </p:cNvPicPr>
          <p:nvPr/>
        </p:nvPicPr>
        <p:blipFill>
          <a:blip r:embed="rId3"/>
          <a:srcRect l="17278" r="17278"/>
          <a:stretch/>
        </p:blipFill>
        <p:spPr>
          <a:xfrm>
            <a:off x="7810500" y="1333500"/>
            <a:ext cx="4000500" cy="3438525"/>
          </a:xfrm>
          <a:prstGeom prst="roundRect">
            <a:avLst>
              <a:gd name="adj" fmla="val 2216"/>
            </a:avLst>
          </a:prstGeom>
        </p:spPr>
      </p:pic>
      <p:sp>
        <p:nvSpPr>
          <p:cNvPr id="36" name="Shape 33"/>
          <p:cNvSpPr/>
          <p:nvPr/>
        </p:nvSpPr>
        <p:spPr>
          <a:xfrm>
            <a:off x="7813675" y="4962526"/>
            <a:ext cx="3997325" cy="1511300"/>
          </a:xfrm>
          <a:custGeom>
            <a:avLst/>
            <a:gdLst/>
            <a:ahLst/>
            <a:cxnLst/>
            <a:rect l="l" t="t" r="r" b="b"/>
            <a:pathLst>
              <a:path w="3997325" h="1511300">
                <a:moveTo>
                  <a:pt x="76200" y="0"/>
                </a:moveTo>
                <a:lnTo>
                  <a:pt x="3921125" y="0"/>
                </a:lnTo>
                <a:cubicBezTo>
                  <a:pt x="3963209" y="0"/>
                  <a:pt x="3997325" y="34116"/>
                  <a:pt x="3997325" y="76200"/>
                </a:cubicBezTo>
                <a:lnTo>
                  <a:pt x="3997325" y="1435100"/>
                </a:lnTo>
                <a:cubicBezTo>
                  <a:pt x="3997325" y="1477184"/>
                  <a:pt x="3963209" y="1511300"/>
                  <a:pt x="3921125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007350" y="517524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445500" y="5156199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Assembly Integration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007350" y="5537199"/>
            <a:ext cx="3686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components work in harmony to create a complete mechanical system suitable for power transmission applications in industrial machinery.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0" y="0"/>
                </a:moveTo>
                <a:lnTo>
                  <a:pt x="533400" y="0"/>
                </a:lnTo>
                <a:lnTo>
                  <a:pt x="533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8700" y="38100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critical engineering elements incorporated into the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733550"/>
            <a:ext cx="3705225" cy="2181225"/>
          </a:xfrm>
          <a:custGeom>
            <a:avLst/>
            <a:gdLst/>
            <a:ahLst/>
            <a:cxnLst/>
            <a:rect l="l" t="t" r="r" b="b"/>
            <a:pathLst>
              <a:path w="3705225" h="2181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105035"/>
                </a:lnTo>
                <a:cubicBezTo>
                  <a:pt x="3705225" y="2147113"/>
                  <a:pt x="3671113" y="2181225"/>
                  <a:pt x="3629035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1733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1943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3875" y="1943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38352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Stepped Shaft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552702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separation of sections</a:t>
            </a: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strategic diameter changes, enabling proper component seating and load distribution.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413127"/>
            <a:ext cx="3324225" cy="6350"/>
          </a:xfrm>
          <a:custGeom>
            <a:avLst/>
            <a:gdLst/>
            <a:ahLst/>
            <a:cxnLst/>
            <a:rect l="l" t="t" r="r" b="b"/>
            <a:pathLst>
              <a:path w="3324225" h="6350">
                <a:moveTo>
                  <a:pt x="0" y="0"/>
                </a:moveTo>
                <a:lnTo>
                  <a:pt x="3324225" y="0"/>
                </a:lnTo>
                <a:lnTo>
                  <a:pt x="33242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0550" y="355917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4388" y="3530601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diameter transitions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1800" y="1733550"/>
            <a:ext cx="3705225" cy="2181225"/>
          </a:xfrm>
          <a:custGeom>
            <a:avLst/>
            <a:gdLst/>
            <a:ahLst/>
            <a:cxnLst/>
            <a:rect l="l" t="t" r="r" b="b"/>
            <a:pathLst>
              <a:path w="3705225" h="2181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105035"/>
                </a:lnTo>
                <a:cubicBezTo>
                  <a:pt x="3705225" y="2147113"/>
                  <a:pt x="3671113" y="2181225"/>
                  <a:pt x="3629035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41800" y="1733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32300" y="1943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4675" y="1943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03800" y="2038352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Fillets &amp; Radii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32300" y="2552702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stress concentration</a:t>
            </a: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diameter transitions, preventing fatigue failure and extending component service life.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2300" y="3413127"/>
            <a:ext cx="3324225" cy="6350"/>
          </a:xfrm>
          <a:custGeom>
            <a:avLst/>
            <a:gdLst/>
            <a:ahLst/>
            <a:cxnLst/>
            <a:rect l="l" t="t" r="r" b="b"/>
            <a:pathLst>
              <a:path w="3324225" h="6350">
                <a:moveTo>
                  <a:pt x="0" y="0"/>
                </a:moveTo>
                <a:lnTo>
                  <a:pt x="3324225" y="0"/>
                </a:lnTo>
                <a:lnTo>
                  <a:pt x="33242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51350" y="355917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75188" y="3530601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corner transitions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2600" y="1733550"/>
            <a:ext cx="3705225" cy="2181225"/>
          </a:xfrm>
          <a:custGeom>
            <a:avLst/>
            <a:gdLst/>
            <a:ahLst/>
            <a:cxnLst/>
            <a:rect l="l" t="t" r="r" b="b"/>
            <a:pathLst>
              <a:path w="3705225" h="2181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105035"/>
                </a:lnTo>
                <a:cubicBezTo>
                  <a:pt x="3705225" y="2147113"/>
                  <a:pt x="3671113" y="2181225"/>
                  <a:pt x="3629035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02600" y="1733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93100" y="1943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45475" y="1943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64600" y="2038352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 Control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93100" y="2552702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 dimensional control</a:t>
            </a: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provided engineering drawings, ensuring precision and interchangeability.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93100" y="3413127"/>
            <a:ext cx="3324225" cy="6350"/>
          </a:xfrm>
          <a:custGeom>
            <a:avLst/>
            <a:gdLst/>
            <a:ahLst/>
            <a:cxnLst/>
            <a:rect l="l" t="t" r="r" b="b"/>
            <a:pathLst>
              <a:path w="3324225" h="6350">
                <a:moveTo>
                  <a:pt x="0" y="0"/>
                </a:moveTo>
                <a:lnTo>
                  <a:pt x="3324225" y="0"/>
                </a:lnTo>
                <a:lnTo>
                  <a:pt x="33242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12150" y="355917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35988" y="3530601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Tight tolerance adherence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4083051"/>
            <a:ext cx="5638800" cy="1933575"/>
          </a:xfrm>
          <a:custGeom>
            <a:avLst/>
            <a:gdLst/>
            <a:ahLst/>
            <a:cxnLst/>
            <a:rect l="l" t="t" r="r" b="b"/>
            <a:pathLst>
              <a:path w="5638800" h="1933575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857373"/>
                </a:lnTo>
                <a:cubicBezTo>
                  <a:pt x="5638800" y="1899458"/>
                  <a:pt x="5604683" y="1933575"/>
                  <a:pt x="5562598" y="1933575"/>
                </a:cubicBezTo>
                <a:lnTo>
                  <a:pt x="76202" y="1933575"/>
                </a:lnTo>
                <a:cubicBezTo>
                  <a:pt x="34117" y="1933575"/>
                  <a:pt x="0" y="1899458"/>
                  <a:pt x="0" y="185737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1000" y="4083051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1500" y="42926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875" y="42926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4387851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Transitions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4902201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transitions</a:t>
            </a: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different shaft diameters, reducing stress risers and improving fatigue resistance.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1500" y="5514976"/>
            <a:ext cx="5257800" cy="6350"/>
          </a:xfrm>
          <a:custGeom>
            <a:avLst/>
            <a:gdLst/>
            <a:ahLst/>
            <a:cxnLst/>
            <a:rect l="l" t="t" r="r" b="b"/>
            <a:pathLst>
              <a:path w="5257800" h="6350">
                <a:moveTo>
                  <a:pt x="0" y="0"/>
                </a:moveTo>
                <a:lnTo>
                  <a:pt x="5257800" y="0"/>
                </a:lnTo>
                <a:lnTo>
                  <a:pt x="52578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0550" y="566102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14388" y="5632449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surface geometry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4083051"/>
            <a:ext cx="5638800" cy="1933575"/>
          </a:xfrm>
          <a:custGeom>
            <a:avLst/>
            <a:gdLst/>
            <a:ahLst/>
            <a:cxnLst/>
            <a:rect l="l" t="t" r="r" b="b"/>
            <a:pathLst>
              <a:path w="5638800" h="1933575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1857373"/>
                </a:lnTo>
                <a:cubicBezTo>
                  <a:pt x="5638800" y="1899458"/>
                  <a:pt x="5604683" y="1933575"/>
                  <a:pt x="5562598" y="1933575"/>
                </a:cubicBezTo>
                <a:lnTo>
                  <a:pt x="76202" y="1933575"/>
                </a:lnTo>
                <a:cubicBezTo>
                  <a:pt x="34117" y="1933575"/>
                  <a:pt x="0" y="1899458"/>
                  <a:pt x="0" y="185737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72200" y="4083051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62700" y="42926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15075" y="42926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34200" y="4387851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 Alignment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62700" y="4902201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 alignment</a:t>
            </a: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shaft and support component, ensuring concentricity and minimizing vibration.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2700" y="5514976"/>
            <a:ext cx="5257800" cy="6350"/>
          </a:xfrm>
          <a:custGeom>
            <a:avLst/>
            <a:gdLst/>
            <a:ahLst/>
            <a:cxnLst/>
            <a:rect l="l" t="t" r="r" b="b"/>
            <a:pathLst>
              <a:path w="5257800" h="6350">
                <a:moveTo>
                  <a:pt x="0" y="0"/>
                </a:moveTo>
                <a:lnTo>
                  <a:pt x="5257800" y="0"/>
                </a:lnTo>
                <a:lnTo>
                  <a:pt x="52578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81750" y="566102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05588" y="5632449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Concentric bore design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4175" y="6169024"/>
            <a:ext cx="11426825" cy="539750"/>
          </a:xfrm>
          <a:custGeom>
            <a:avLst/>
            <a:gdLst/>
            <a:ahLst/>
            <a:cxnLst/>
            <a:rect l="l" t="t" r="r" b="b"/>
            <a:pathLst>
              <a:path w="11426825" h="539750">
                <a:moveTo>
                  <a:pt x="76202" y="0"/>
                </a:moveTo>
                <a:lnTo>
                  <a:pt x="11350623" y="0"/>
                </a:lnTo>
                <a:cubicBezTo>
                  <a:pt x="11392708" y="0"/>
                  <a:pt x="11426825" y="34117"/>
                  <a:pt x="11426825" y="76202"/>
                </a:cubicBezTo>
                <a:lnTo>
                  <a:pt x="11426825" y="463548"/>
                </a:lnTo>
                <a:cubicBezTo>
                  <a:pt x="11426825" y="505633"/>
                  <a:pt x="11392708" y="539750"/>
                  <a:pt x="11350623" y="539750"/>
                </a:cubicBezTo>
                <a:lnTo>
                  <a:pt x="76202" y="539750"/>
                </a:lnTo>
                <a:cubicBezTo>
                  <a:pt x="34145" y="539750"/>
                  <a:pt x="0" y="505605"/>
                  <a:pt x="0" y="4635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4038" y="632460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77900" y="6324602"/>
            <a:ext cx="817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Excellence:</a:t>
            </a: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feature contributes to overall system reliability, manufacturability, and performance optimization.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418107"/>
            <a:ext cx="468280" cy="33449"/>
          </a:xfrm>
          <a:custGeom>
            <a:avLst/>
            <a:gdLst/>
            <a:ahLst/>
            <a:cxnLst/>
            <a:rect l="l" t="t" r="r" b="b"/>
            <a:pathLst>
              <a:path w="468280" h="33449">
                <a:moveTo>
                  <a:pt x="0" y="0"/>
                </a:moveTo>
                <a:lnTo>
                  <a:pt x="468280" y="0"/>
                </a:lnTo>
                <a:lnTo>
                  <a:pt x="468280" y="33449"/>
                </a:lnTo>
                <a:lnTo>
                  <a:pt x="0" y="33449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3111" y="334486"/>
            <a:ext cx="95328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kern="0" spc="105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486" y="602074"/>
            <a:ext cx="3880033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46469" y="418107"/>
            <a:ext cx="861300" cy="50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51" b="1" dirty="0">
                <a:solidFill>
                  <a:srgbClr val="4A5C6A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4486" y="1070354"/>
            <a:ext cx="11598288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Five-step systematic approach to component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1210" y="1371391"/>
            <a:ext cx="6773333" cy="1137251"/>
          </a:xfrm>
          <a:custGeom>
            <a:avLst/>
            <a:gdLst/>
            <a:ahLst/>
            <a:cxnLst/>
            <a:rect l="l" t="t" r="r" b="b"/>
            <a:pathLst>
              <a:path w="6773333" h="1137251">
                <a:moveTo>
                  <a:pt x="33449" y="0"/>
                </a:moveTo>
                <a:lnTo>
                  <a:pt x="6706440" y="0"/>
                </a:lnTo>
                <a:cubicBezTo>
                  <a:pt x="6743384" y="0"/>
                  <a:pt x="6773333" y="29949"/>
                  <a:pt x="6773333" y="66893"/>
                </a:cubicBezTo>
                <a:lnTo>
                  <a:pt x="6773333" y="1070358"/>
                </a:lnTo>
                <a:cubicBezTo>
                  <a:pt x="6773333" y="1107302"/>
                  <a:pt x="6743384" y="1137251"/>
                  <a:pt x="6706440" y="1137251"/>
                </a:cubicBezTo>
                <a:lnTo>
                  <a:pt x="33449" y="1137251"/>
                </a:lnTo>
                <a:cubicBezTo>
                  <a:pt x="14975" y="1137251"/>
                  <a:pt x="0" y="1122276"/>
                  <a:pt x="0" y="1103802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1210" y="1371391"/>
            <a:ext cx="33449" cy="1137251"/>
          </a:xfrm>
          <a:custGeom>
            <a:avLst/>
            <a:gdLst/>
            <a:ahLst/>
            <a:cxnLst/>
            <a:rect l="l" t="t" r="r" b="b"/>
            <a:pathLst>
              <a:path w="33449" h="1137251">
                <a:moveTo>
                  <a:pt x="33449" y="0"/>
                </a:moveTo>
                <a:lnTo>
                  <a:pt x="33449" y="0"/>
                </a:lnTo>
                <a:lnTo>
                  <a:pt x="33449" y="1137251"/>
                </a:lnTo>
                <a:lnTo>
                  <a:pt x="33449" y="1137251"/>
                </a:lnTo>
                <a:cubicBezTo>
                  <a:pt x="14975" y="1137251"/>
                  <a:pt x="0" y="1122276"/>
                  <a:pt x="0" y="1103802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1728" y="1505185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918" y="1505185"/>
            <a:ext cx="485004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905" y="1505185"/>
            <a:ext cx="602910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Drawing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6905" y="1772774"/>
            <a:ext cx="6020741" cy="60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Careful </a:t>
            </a:r>
            <a:r>
              <a:rPr lang="en-US" sz="1054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of the provided engineering drawing</a:t>
            </a: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understand overall geometry, critical dimensions, and functional requirements. This includes reviewing orthographic views, section details, and dimensional tolerances.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1210" y="2756456"/>
            <a:ext cx="6773333" cy="936560"/>
          </a:xfrm>
          <a:custGeom>
            <a:avLst/>
            <a:gdLst/>
            <a:ahLst/>
            <a:cxnLst/>
            <a:rect l="l" t="t" r="r" b="b"/>
            <a:pathLst>
              <a:path w="6773333" h="936560">
                <a:moveTo>
                  <a:pt x="33449" y="0"/>
                </a:moveTo>
                <a:lnTo>
                  <a:pt x="6706435" y="0"/>
                </a:lnTo>
                <a:cubicBezTo>
                  <a:pt x="6743382" y="0"/>
                  <a:pt x="6773333" y="29951"/>
                  <a:pt x="6773333" y="66898"/>
                </a:cubicBezTo>
                <a:lnTo>
                  <a:pt x="6773333" y="869661"/>
                </a:lnTo>
                <a:cubicBezTo>
                  <a:pt x="6773333" y="906608"/>
                  <a:pt x="6743382" y="936560"/>
                  <a:pt x="6706435" y="936560"/>
                </a:cubicBez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1210" y="2756456"/>
            <a:ext cx="33449" cy="936560"/>
          </a:xfrm>
          <a:custGeom>
            <a:avLst/>
            <a:gdLst/>
            <a:ahLst/>
            <a:cxnLst/>
            <a:rect l="l" t="t" r="r" b="b"/>
            <a:pathLst>
              <a:path w="33449" h="936560">
                <a:moveTo>
                  <a:pt x="33449" y="0"/>
                </a:moveTo>
                <a:lnTo>
                  <a:pt x="33449" y="0"/>
                </a:lnTo>
                <a:lnTo>
                  <a:pt x="33449" y="936560"/>
                </a:ln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1728" y="2890250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918" y="2890250"/>
            <a:ext cx="485004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6905" y="2890250"/>
            <a:ext cx="602910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Dimension Identification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6905" y="3157839"/>
            <a:ext cx="6020741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Identification of critical dimensions and features</a:t>
            </a: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directly impact functionality, assembly, and manufacturing. Establishing dimensional chains and geometric relationships.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1210" y="3940920"/>
            <a:ext cx="6773333" cy="936560"/>
          </a:xfrm>
          <a:custGeom>
            <a:avLst/>
            <a:gdLst/>
            <a:ahLst/>
            <a:cxnLst/>
            <a:rect l="l" t="t" r="r" b="b"/>
            <a:pathLst>
              <a:path w="6773333" h="936560">
                <a:moveTo>
                  <a:pt x="33449" y="0"/>
                </a:moveTo>
                <a:lnTo>
                  <a:pt x="6706435" y="0"/>
                </a:lnTo>
                <a:cubicBezTo>
                  <a:pt x="6743382" y="0"/>
                  <a:pt x="6773333" y="29951"/>
                  <a:pt x="6773333" y="66898"/>
                </a:cubicBezTo>
                <a:lnTo>
                  <a:pt x="6773333" y="869661"/>
                </a:lnTo>
                <a:cubicBezTo>
                  <a:pt x="6773333" y="906608"/>
                  <a:pt x="6743382" y="936560"/>
                  <a:pt x="6706435" y="936560"/>
                </a:cubicBez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1210" y="3940920"/>
            <a:ext cx="33449" cy="936560"/>
          </a:xfrm>
          <a:custGeom>
            <a:avLst/>
            <a:gdLst/>
            <a:ahLst/>
            <a:cxnLst/>
            <a:rect l="l" t="t" r="r" b="b"/>
            <a:pathLst>
              <a:path w="33449" h="936560">
                <a:moveTo>
                  <a:pt x="33449" y="0"/>
                </a:moveTo>
                <a:lnTo>
                  <a:pt x="33449" y="0"/>
                </a:lnTo>
                <a:lnTo>
                  <a:pt x="33449" y="936560"/>
                </a:ln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1728" y="4074714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9918" y="4074714"/>
            <a:ext cx="485004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6905" y="4074714"/>
            <a:ext cx="602910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Geometry Creation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6905" y="4342302"/>
            <a:ext cx="6020741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Creation of basic geometry using sketches</a:t>
            </a: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CAD environment. Developing 2D profiles that define the shaft's cross-sectional shape and support structure outline.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1210" y="5125294"/>
            <a:ext cx="6773333" cy="936560"/>
          </a:xfrm>
          <a:custGeom>
            <a:avLst/>
            <a:gdLst/>
            <a:ahLst/>
            <a:cxnLst/>
            <a:rect l="l" t="t" r="r" b="b"/>
            <a:pathLst>
              <a:path w="6773333" h="936560">
                <a:moveTo>
                  <a:pt x="33449" y="0"/>
                </a:moveTo>
                <a:lnTo>
                  <a:pt x="6706435" y="0"/>
                </a:lnTo>
                <a:cubicBezTo>
                  <a:pt x="6743382" y="0"/>
                  <a:pt x="6773333" y="29951"/>
                  <a:pt x="6773333" y="66898"/>
                </a:cubicBezTo>
                <a:lnTo>
                  <a:pt x="6773333" y="869661"/>
                </a:lnTo>
                <a:cubicBezTo>
                  <a:pt x="6773333" y="906608"/>
                  <a:pt x="6743382" y="936560"/>
                  <a:pt x="6706435" y="936560"/>
                </a:cubicBez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1210" y="5125294"/>
            <a:ext cx="33449" cy="936560"/>
          </a:xfrm>
          <a:custGeom>
            <a:avLst/>
            <a:gdLst/>
            <a:ahLst/>
            <a:cxnLst/>
            <a:rect l="l" t="t" r="r" b="b"/>
            <a:pathLst>
              <a:path w="33449" h="936560">
                <a:moveTo>
                  <a:pt x="33449" y="0"/>
                </a:moveTo>
                <a:lnTo>
                  <a:pt x="33449" y="0"/>
                </a:lnTo>
                <a:lnTo>
                  <a:pt x="33449" y="936560"/>
                </a:ln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1728" y="5259088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918" y="5259088"/>
            <a:ext cx="485004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6905" y="5259088"/>
            <a:ext cx="602910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Addition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6905" y="5526676"/>
            <a:ext cx="6020741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 of fillets and detailed features</a:t>
            </a: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such as chamfers, keyways, and mounting holes. Applying surface finishes and refining geometric transitions.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1210" y="6309667"/>
            <a:ext cx="6773333" cy="936560"/>
          </a:xfrm>
          <a:custGeom>
            <a:avLst/>
            <a:gdLst/>
            <a:ahLst/>
            <a:cxnLst/>
            <a:rect l="l" t="t" r="r" b="b"/>
            <a:pathLst>
              <a:path w="6773333" h="936560">
                <a:moveTo>
                  <a:pt x="33449" y="0"/>
                </a:moveTo>
                <a:lnTo>
                  <a:pt x="6706435" y="0"/>
                </a:lnTo>
                <a:cubicBezTo>
                  <a:pt x="6743382" y="0"/>
                  <a:pt x="6773333" y="29951"/>
                  <a:pt x="6773333" y="66898"/>
                </a:cubicBezTo>
                <a:lnTo>
                  <a:pt x="6773333" y="869661"/>
                </a:lnTo>
                <a:cubicBezTo>
                  <a:pt x="6773333" y="906608"/>
                  <a:pt x="6743382" y="936560"/>
                  <a:pt x="6706435" y="936560"/>
                </a:cubicBez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51210" y="6309667"/>
            <a:ext cx="33449" cy="936560"/>
          </a:xfrm>
          <a:custGeom>
            <a:avLst/>
            <a:gdLst/>
            <a:ahLst/>
            <a:cxnLst/>
            <a:rect l="l" t="t" r="r" b="b"/>
            <a:pathLst>
              <a:path w="33449" h="936560">
                <a:moveTo>
                  <a:pt x="33449" y="0"/>
                </a:moveTo>
                <a:lnTo>
                  <a:pt x="33449" y="0"/>
                </a:lnTo>
                <a:lnTo>
                  <a:pt x="33449" y="936560"/>
                </a:lnTo>
                <a:lnTo>
                  <a:pt x="33449" y="936560"/>
                </a:lnTo>
                <a:cubicBezTo>
                  <a:pt x="14975" y="936560"/>
                  <a:pt x="0" y="921584"/>
                  <a:pt x="0" y="903111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1728" y="6443462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9918" y="6443462"/>
            <a:ext cx="485004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36905" y="6443462"/>
            <a:ext cx="602910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Verification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6905" y="6711050"/>
            <a:ext cx="6020741" cy="40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verification of dimensions and geometry</a:t>
            </a: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against original specifications. Conducting interference checks and ensuring design intent is maintained throughout.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27412" y="1371391"/>
            <a:ext cx="4532280" cy="4624263"/>
          </a:xfrm>
          <a:custGeom>
            <a:avLst/>
            <a:gdLst/>
            <a:ahLst/>
            <a:cxnLst/>
            <a:rect l="l" t="t" r="r" b="b"/>
            <a:pathLst>
              <a:path w="4532280" h="4624263">
                <a:moveTo>
                  <a:pt x="66896" y="0"/>
                </a:moveTo>
                <a:lnTo>
                  <a:pt x="4465383" y="0"/>
                </a:lnTo>
                <a:cubicBezTo>
                  <a:pt x="4502329" y="0"/>
                  <a:pt x="4532280" y="29951"/>
                  <a:pt x="4532280" y="66896"/>
                </a:cubicBezTo>
                <a:lnTo>
                  <a:pt x="4532280" y="4557367"/>
                </a:lnTo>
                <a:cubicBezTo>
                  <a:pt x="4532280" y="4594313"/>
                  <a:pt x="4502329" y="4624263"/>
                  <a:pt x="4465383" y="4624263"/>
                </a:cubicBezTo>
                <a:lnTo>
                  <a:pt x="66896" y="4624263"/>
                </a:lnTo>
                <a:cubicBezTo>
                  <a:pt x="29951" y="4624263"/>
                  <a:pt x="0" y="4594313"/>
                  <a:pt x="0" y="4557367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0" descr="https://kimi-web-img.moonshot.cn/img/elite-cad.com/de884079c38498dc004e564cb49f4030f2356ad2.png"/>
          <p:cNvPicPr>
            <a:picLocks noChangeAspect="1"/>
          </p:cNvPicPr>
          <p:nvPr/>
        </p:nvPicPr>
        <p:blipFill>
          <a:blip r:embed="rId3"/>
          <a:srcRect l="22434" r="22434"/>
          <a:stretch/>
        </p:blipFill>
        <p:spPr>
          <a:xfrm>
            <a:off x="7327412" y="1371391"/>
            <a:ext cx="4532280" cy="4624263"/>
          </a:xfrm>
          <a:prstGeom prst="roundRect">
            <a:avLst>
              <a:gd name="adj" fmla="val 1476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7330200" y="6134065"/>
            <a:ext cx="4521130" cy="1109377"/>
          </a:xfrm>
          <a:custGeom>
            <a:avLst/>
            <a:gdLst/>
            <a:ahLst/>
            <a:cxnLst/>
            <a:rect l="l" t="t" r="r" b="b"/>
            <a:pathLst>
              <a:path w="4521130" h="1109377">
                <a:moveTo>
                  <a:pt x="66895" y="0"/>
                </a:moveTo>
                <a:lnTo>
                  <a:pt x="4454235" y="0"/>
                </a:lnTo>
                <a:cubicBezTo>
                  <a:pt x="4491180" y="0"/>
                  <a:pt x="4521130" y="29950"/>
                  <a:pt x="4521130" y="66895"/>
                </a:cubicBezTo>
                <a:lnTo>
                  <a:pt x="4521130" y="1042482"/>
                </a:lnTo>
                <a:cubicBezTo>
                  <a:pt x="4521130" y="1079427"/>
                  <a:pt x="4491180" y="1109377"/>
                  <a:pt x="4454235" y="1109377"/>
                </a:cubicBezTo>
                <a:lnTo>
                  <a:pt x="66895" y="1109377"/>
                </a:lnTo>
                <a:cubicBezTo>
                  <a:pt x="29950" y="1109377"/>
                  <a:pt x="0" y="1079427"/>
                  <a:pt x="0" y="1042482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539950" y="6345905"/>
            <a:ext cx="112889" cy="150519"/>
          </a:xfrm>
          <a:custGeom>
            <a:avLst/>
            <a:gdLst/>
            <a:ahLst/>
            <a:cxnLst/>
            <a:rect l="l" t="t" r="r" b="b"/>
            <a:pathLst>
              <a:path w="112889" h="150519">
                <a:moveTo>
                  <a:pt x="73466" y="19638"/>
                </a:moveTo>
                <a:cubicBezTo>
                  <a:pt x="76523" y="15434"/>
                  <a:pt x="75583" y="9554"/>
                  <a:pt x="71379" y="6497"/>
                </a:cubicBezTo>
                <a:cubicBezTo>
                  <a:pt x="67175" y="3440"/>
                  <a:pt x="61295" y="4380"/>
                  <a:pt x="58238" y="8584"/>
                </a:cubicBezTo>
                <a:lnTo>
                  <a:pt x="27076" y="51417"/>
                </a:lnTo>
                <a:lnTo>
                  <a:pt x="16051" y="40393"/>
                </a:lnTo>
                <a:cubicBezTo>
                  <a:pt x="12377" y="36718"/>
                  <a:pt x="6409" y="36718"/>
                  <a:pt x="2734" y="40393"/>
                </a:cubicBezTo>
                <a:cubicBezTo>
                  <a:pt x="-941" y="44068"/>
                  <a:pt x="-941" y="50036"/>
                  <a:pt x="2734" y="53710"/>
                </a:cubicBezTo>
                <a:lnTo>
                  <a:pt x="21549" y="72525"/>
                </a:lnTo>
                <a:cubicBezTo>
                  <a:pt x="23489" y="74466"/>
                  <a:pt x="26194" y="75465"/>
                  <a:pt x="28928" y="75259"/>
                </a:cubicBezTo>
                <a:cubicBezTo>
                  <a:pt x="31662" y="75053"/>
                  <a:pt x="34190" y="73642"/>
                  <a:pt x="35807" y="71408"/>
                </a:cubicBezTo>
                <a:lnTo>
                  <a:pt x="73437" y="19667"/>
                </a:lnTo>
                <a:close/>
                <a:moveTo>
                  <a:pt x="111096" y="59619"/>
                </a:moveTo>
                <a:cubicBezTo>
                  <a:pt x="114153" y="55416"/>
                  <a:pt x="113212" y="49536"/>
                  <a:pt x="109008" y="46478"/>
                </a:cubicBezTo>
                <a:cubicBezTo>
                  <a:pt x="104804" y="43421"/>
                  <a:pt x="98925" y="44362"/>
                  <a:pt x="95867" y="48566"/>
                </a:cubicBezTo>
                <a:lnTo>
                  <a:pt x="45891" y="117269"/>
                </a:lnTo>
                <a:lnTo>
                  <a:pt x="25459" y="96837"/>
                </a:lnTo>
                <a:cubicBezTo>
                  <a:pt x="21784" y="93163"/>
                  <a:pt x="15816" y="93163"/>
                  <a:pt x="12141" y="96837"/>
                </a:cubicBezTo>
                <a:cubicBezTo>
                  <a:pt x="8467" y="100512"/>
                  <a:pt x="8467" y="106480"/>
                  <a:pt x="12141" y="110155"/>
                </a:cubicBezTo>
                <a:lnTo>
                  <a:pt x="40364" y="138377"/>
                </a:lnTo>
                <a:cubicBezTo>
                  <a:pt x="42304" y="140317"/>
                  <a:pt x="45009" y="141317"/>
                  <a:pt x="47743" y="141111"/>
                </a:cubicBezTo>
                <a:cubicBezTo>
                  <a:pt x="50477" y="140905"/>
                  <a:pt x="53005" y="139494"/>
                  <a:pt x="54622" y="137260"/>
                </a:cubicBezTo>
                <a:lnTo>
                  <a:pt x="111066" y="5964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692559" y="6304094"/>
            <a:ext cx="4064000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500230" y="6638580"/>
            <a:ext cx="4247967" cy="434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step completed while maintaining </a:t>
            </a:r>
            <a:r>
              <a:rPr lang="en-US" sz="1054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and design intent</a:t>
            </a:r>
            <a:r>
              <a:rPr lang="en-US" sz="1054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ensuring the final model meets all engineering requirements.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444500" cy="31750"/>
          </a:xfrm>
          <a:custGeom>
            <a:avLst/>
            <a:gdLst/>
            <a:ahLst/>
            <a:cxnLst/>
            <a:rect l="l" t="t" r="r" b="b"/>
            <a:pathLst>
              <a:path w="444500" h="31750">
                <a:moveTo>
                  <a:pt x="0" y="0"/>
                </a:moveTo>
                <a:lnTo>
                  <a:pt x="444500" y="0"/>
                </a:lnTo>
                <a:lnTo>
                  <a:pt x="444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250" y="31750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Considerations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047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critical aspects evaluated during the design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428750"/>
            <a:ext cx="5683250" cy="3032125"/>
          </a:xfrm>
          <a:custGeom>
            <a:avLst/>
            <a:gdLst/>
            <a:ahLst/>
            <a:cxnLst/>
            <a:rect l="l" t="t" r="r" b="b"/>
            <a:pathLst>
              <a:path w="5683250" h="3032125">
                <a:moveTo>
                  <a:pt x="31750" y="0"/>
                </a:moveTo>
                <a:lnTo>
                  <a:pt x="5619757" y="0"/>
                </a:lnTo>
                <a:cubicBezTo>
                  <a:pt x="5654823" y="0"/>
                  <a:pt x="5683250" y="28427"/>
                  <a:pt x="5683250" y="63493"/>
                </a:cubicBezTo>
                <a:lnTo>
                  <a:pt x="5683250" y="2968632"/>
                </a:lnTo>
                <a:cubicBezTo>
                  <a:pt x="5683250" y="3003698"/>
                  <a:pt x="5654823" y="3032125"/>
                  <a:pt x="5619757" y="3032125"/>
                </a:cubicBezTo>
                <a:lnTo>
                  <a:pt x="31750" y="3032125"/>
                </a:lnTo>
                <a:cubicBezTo>
                  <a:pt x="14215" y="3032125"/>
                  <a:pt x="0" y="3017910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3375" y="1428750"/>
            <a:ext cx="31750" cy="3032125"/>
          </a:xfrm>
          <a:custGeom>
            <a:avLst/>
            <a:gdLst/>
            <a:ahLst/>
            <a:cxnLst/>
            <a:rect l="l" t="t" r="r" b="b"/>
            <a:pathLst>
              <a:path w="31750" h="3032125">
                <a:moveTo>
                  <a:pt x="31750" y="0"/>
                </a:moveTo>
                <a:lnTo>
                  <a:pt x="31750" y="0"/>
                </a:lnTo>
                <a:lnTo>
                  <a:pt x="31750" y="3032125"/>
                </a:lnTo>
                <a:lnTo>
                  <a:pt x="31750" y="3032125"/>
                </a:lnTo>
                <a:cubicBezTo>
                  <a:pt x="14227" y="3032125"/>
                  <a:pt x="0" y="3017898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9750" y="1619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6750" y="174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1250" y="1682750"/>
            <a:ext cx="157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Manufacturability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750" y="2190750"/>
            <a:ext cx="5357813" cy="131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Manufacturability of the shaft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standard machining processes such as turning, milling, and grinding. Design features accommodate conventional tooling and fixturing requirements.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" y="3634798"/>
            <a:ext cx="2611438" cy="285750"/>
          </a:xfrm>
          <a:custGeom>
            <a:avLst/>
            <a:gdLst/>
            <a:ahLst/>
            <a:cxnLst/>
            <a:rect l="l" t="t" r="r" b="b"/>
            <a:pathLst>
              <a:path w="2611438" h="285750">
                <a:moveTo>
                  <a:pt x="31750" y="0"/>
                </a:moveTo>
                <a:lnTo>
                  <a:pt x="2579688" y="0"/>
                </a:lnTo>
                <a:cubicBezTo>
                  <a:pt x="2597223" y="0"/>
                  <a:pt x="2611438" y="14215"/>
                  <a:pt x="2611438" y="31750"/>
                </a:cubicBezTo>
                <a:lnTo>
                  <a:pt x="2611438" y="254000"/>
                </a:lnTo>
                <a:cubicBezTo>
                  <a:pt x="2611438" y="271535"/>
                  <a:pt x="2597223" y="285750"/>
                  <a:pt x="25796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5469" y="3698298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4688" y="3634798"/>
            <a:ext cx="2611438" cy="285750"/>
          </a:xfrm>
          <a:custGeom>
            <a:avLst/>
            <a:gdLst/>
            <a:ahLst/>
            <a:cxnLst/>
            <a:rect l="l" t="t" r="r" b="b"/>
            <a:pathLst>
              <a:path w="2611438" h="285750">
                <a:moveTo>
                  <a:pt x="31750" y="0"/>
                </a:moveTo>
                <a:lnTo>
                  <a:pt x="2579688" y="0"/>
                </a:lnTo>
                <a:cubicBezTo>
                  <a:pt x="2597223" y="0"/>
                  <a:pt x="2611438" y="14215"/>
                  <a:pt x="2611438" y="31750"/>
                </a:cubicBezTo>
                <a:lnTo>
                  <a:pt x="2611438" y="254000"/>
                </a:lnTo>
                <a:cubicBezTo>
                  <a:pt x="2611438" y="271535"/>
                  <a:pt x="2597223" y="285750"/>
                  <a:pt x="25796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50406" y="3698298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750" y="3984048"/>
            <a:ext cx="2611438" cy="285750"/>
          </a:xfrm>
          <a:custGeom>
            <a:avLst/>
            <a:gdLst/>
            <a:ahLst/>
            <a:cxnLst/>
            <a:rect l="l" t="t" r="r" b="b"/>
            <a:pathLst>
              <a:path w="2611438" h="285750">
                <a:moveTo>
                  <a:pt x="31750" y="0"/>
                </a:moveTo>
                <a:lnTo>
                  <a:pt x="2579688" y="0"/>
                </a:lnTo>
                <a:cubicBezTo>
                  <a:pt x="2597223" y="0"/>
                  <a:pt x="2611438" y="14215"/>
                  <a:pt x="2611438" y="31750"/>
                </a:cubicBezTo>
                <a:lnTo>
                  <a:pt x="2611438" y="254000"/>
                </a:lnTo>
                <a:cubicBezTo>
                  <a:pt x="2611438" y="271535"/>
                  <a:pt x="2597223" y="285750"/>
                  <a:pt x="25796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5469" y="4047548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Grinding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14688" y="3984048"/>
            <a:ext cx="2611438" cy="285750"/>
          </a:xfrm>
          <a:custGeom>
            <a:avLst/>
            <a:gdLst/>
            <a:ahLst/>
            <a:cxnLst/>
            <a:rect l="l" t="t" r="r" b="b"/>
            <a:pathLst>
              <a:path w="2611438" h="285750">
                <a:moveTo>
                  <a:pt x="31750" y="0"/>
                </a:moveTo>
                <a:lnTo>
                  <a:pt x="2579688" y="0"/>
                </a:lnTo>
                <a:cubicBezTo>
                  <a:pt x="2597223" y="0"/>
                  <a:pt x="2611438" y="14215"/>
                  <a:pt x="2611438" y="31750"/>
                </a:cubicBezTo>
                <a:lnTo>
                  <a:pt x="2611438" y="254000"/>
                </a:lnTo>
                <a:cubicBezTo>
                  <a:pt x="2611438" y="271535"/>
                  <a:pt x="2597223" y="285750"/>
                  <a:pt x="25796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50406" y="4047548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Drilling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1250" y="1428750"/>
            <a:ext cx="5683250" cy="3032125"/>
          </a:xfrm>
          <a:custGeom>
            <a:avLst/>
            <a:gdLst/>
            <a:ahLst/>
            <a:cxnLst/>
            <a:rect l="l" t="t" r="r" b="b"/>
            <a:pathLst>
              <a:path w="5683250" h="3032125">
                <a:moveTo>
                  <a:pt x="31750" y="0"/>
                </a:moveTo>
                <a:lnTo>
                  <a:pt x="5619757" y="0"/>
                </a:lnTo>
                <a:cubicBezTo>
                  <a:pt x="5654823" y="0"/>
                  <a:pt x="5683250" y="28427"/>
                  <a:pt x="5683250" y="63493"/>
                </a:cubicBezTo>
                <a:lnTo>
                  <a:pt x="5683250" y="2968632"/>
                </a:lnTo>
                <a:cubicBezTo>
                  <a:pt x="5683250" y="3003698"/>
                  <a:pt x="5654823" y="3032125"/>
                  <a:pt x="5619757" y="3032125"/>
                </a:cubicBezTo>
                <a:lnTo>
                  <a:pt x="31750" y="3032125"/>
                </a:lnTo>
                <a:cubicBezTo>
                  <a:pt x="14215" y="3032125"/>
                  <a:pt x="0" y="3017910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1250" y="1428750"/>
            <a:ext cx="31750" cy="3032125"/>
          </a:xfrm>
          <a:custGeom>
            <a:avLst/>
            <a:gdLst/>
            <a:ahLst/>
            <a:cxnLst/>
            <a:rect l="l" t="t" r="r" b="b"/>
            <a:pathLst>
              <a:path w="31750" h="3032125">
                <a:moveTo>
                  <a:pt x="31750" y="0"/>
                </a:moveTo>
                <a:lnTo>
                  <a:pt x="31750" y="0"/>
                </a:lnTo>
                <a:lnTo>
                  <a:pt x="31750" y="3032125"/>
                </a:lnTo>
                <a:lnTo>
                  <a:pt x="31750" y="3032125"/>
                </a:lnTo>
                <a:cubicBezTo>
                  <a:pt x="14227" y="3032125"/>
                  <a:pt x="0" y="3017898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97625" y="1619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24625" y="174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69125" y="1682750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Assembly Ease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7625" y="2190750"/>
            <a:ext cx="5357813" cy="125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Ease of assembly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shaft and support components through proper tolerancing, alignment features, and accessible fastening points. Minimizing assembly time and complexity.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0445" y="3610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00031" y="3571298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 clearance fits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0445" y="3864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00031" y="3825298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Alignment guides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20445" y="4118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00031" y="4079298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fasteners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375" y="4619048"/>
            <a:ext cx="5683250" cy="3032125"/>
          </a:xfrm>
          <a:custGeom>
            <a:avLst/>
            <a:gdLst/>
            <a:ahLst/>
            <a:cxnLst/>
            <a:rect l="l" t="t" r="r" b="b"/>
            <a:pathLst>
              <a:path w="5683250" h="3032125">
                <a:moveTo>
                  <a:pt x="31750" y="0"/>
                </a:moveTo>
                <a:lnTo>
                  <a:pt x="5619757" y="0"/>
                </a:lnTo>
                <a:cubicBezTo>
                  <a:pt x="5654823" y="0"/>
                  <a:pt x="5683250" y="28427"/>
                  <a:pt x="5683250" y="63493"/>
                </a:cubicBezTo>
                <a:lnTo>
                  <a:pt x="5683250" y="2968632"/>
                </a:lnTo>
                <a:cubicBezTo>
                  <a:pt x="5683250" y="3003698"/>
                  <a:pt x="5654823" y="3032125"/>
                  <a:pt x="5619757" y="3032125"/>
                </a:cubicBezTo>
                <a:lnTo>
                  <a:pt x="31750" y="3032125"/>
                </a:lnTo>
                <a:cubicBezTo>
                  <a:pt x="14215" y="3032125"/>
                  <a:pt x="0" y="3017910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3375" y="4619048"/>
            <a:ext cx="31750" cy="3032125"/>
          </a:xfrm>
          <a:custGeom>
            <a:avLst/>
            <a:gdLst/>
            <a:ahLst/>
            <a:cxnLst/>
            <a:rect l="l" t="t" r="r" b="b"/>
            <a:pathLst>
              <a:path w="31750" h="3032125">
                <a:moveTo>
                  <a:pt x="31750" y="0"/>
                </a:moveTo>
                <a:lnTo>
                  <a:pt x="31750" y="0"/>
                </a:lnTo>
                <a:lnTo>
                  <a:pt x="31750" y="3032125"/>
                </a:lnTo>
                <a:lnTo>
                  <a:pt x="31750" y="3032125"/>
                </a:lnTo>
                <a:cubicBezTo>
                  <a:pt x="14227" y="3032125"/>
                  <a:pt x="0" y="3017898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9750" y="480954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6750" y="49365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11250" y="4873048"/>
            <a:ext cx="1666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Structural Integrity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9750" y="5381048"/>
            <a:ext cx="5357813" cy="125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Structural integrity of the support component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under anticipated operational loads. Rib reinforcements and optimized wall thickness ensure rigidity without excessive material usage.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2570" y="68013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2156" y="6761676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2570" y="70553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2156" y="7015676"/>
            <a:ext cx="106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Rib reinforcement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2570" y="73093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2156" y="7269676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Material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1250" y="4619048"/>
            <a:ext cx="5683250" cy="3032125"/>
          </a:xfrm>
          <a:custGeom>
            <a:avLst/>
            <a:gdLst/>
            <a:ahLst/>
            <a:cxnLst/>
            <a:rect l="l" t="t" r="r" b="b"/>
            <a:pathLst>
              <a:path w="5683250" h="3032125">
                <a:moveTo>
                  <a:pt x="31750" y="0"/>
                </a:moveTo>
                <a:lnTo>
                  <a:pt x="5619757" y="0"/>
                </a:lnTo>
                <a:cubicBezTo>
                  <a:pt x="5654823" y="0"/>
                  <a:pt x="5683250" y="28427"/>
                  <a:pt x="5683250" y="63493"/>
                </a:cubicBezTo>
                <a:lnTo>
                  <a:pt x="5683250" y="2968632"/>
                </a:lnTo>
                <a:cubicBezTo>
                  <a:pt x="5683250" y="3003698"/>
                  <a:pt x="5654823" y="3032125"/>
                  <a:pt x="5619757" y="3032125"/>
                </a:cubicBezTo>
                <a:lnTo>
                  <a:pt x="31750" y="3032125"/>
                </a:lnTo>
                <a:cubicBezTo>
                  <a:pt x="14215" y="3032125"/>
                  <a:pt x="0" y="3017910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91250" y="4619048"/>
            <a:ext cx="31750" cy="3032125"/>
          </a:xfrm>
          <a:custGeom>
            <a:avLst/>
            <a:gdLst/>
            <a:ahLst/>
            <a:cxnLst/>
            <a:rect l="l" t="t" r="r" b="b"/>
            <a:pathLst>
              <a:path w="31750" h="3032125">
                <a:moveTo>
                  <a:pt x="31750" y="0"/>
                </a:moveTo>
                <a:lnTo>
                  <a:pt x="31750" y="0"/>
                </a:lnTo>
                <a:lnTo>
                  <a:pt x="31750" y="3032125"/>
                </a:lnTo>
                <a:lnTo>
                  <a:pt x="31750" y="3032125"/>
                </a:lnTo>
                <a:cubicBezTo>
                  <a:pt x="14227" y="3032125"/>
                  <a:pt x="0" y="3017898"/>
                  <a:pt x="0" y="300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97625" y="480954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36531" y="493654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69125" y="4873048"/>
            <a:ext cx="1547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97625" y="5381048"/>
            <a:ext cx="5357813" cy="1254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application of mechanical design principles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including stress analysis, material selection, and functional requirement satisfaction. Applying theoretical knowledge to real-world constraints.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20445" y="68013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00031" y="6761676"/>
            <a:ext cx="122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Stress concentration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20445" y="70553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00031" y="7015676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Material properties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20445" y="730936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00031" y="7269676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design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0146" y="7812072"/>
            <a:ext cx="11554354" cy="449792"/>
          </a:xfrm>
          <a:custGeom>
            <a:avLst/>
            <a:gdLst/>
            <a:ahLst/>
            <a:cxnLst/>
            <a:rect l="l" t="t" r="r" b="b"/>
            <a:pathLst>
              <a:path w="11554354" h="449792">
                <a:moveTo>
                  <a:pt x="63502" y="0"/>
                </a:moveTo>
                <a:lnTo>
                  <a:pt x="11490853" y="0"/>
                </a:lnTo>
                <a:cubicBezTo>
                  <a:pt x="11525924" y="0"/>
                  <a:pt x="11554354" y="28431"/>
                  <a:pt x="11554354" y="63502"/>
                </a:cubicBezTo>
                <a:lnTo>
                  <a:pt x="11554354" y="386290"/>
                </a:lnTo>
                <a:cubicBezTo>
                  <a:pt x="11554354" y="421361"/>
                  <a:pt x="11525924" y="449792"/>
                  <a:pt x="11490853" y="449792"/>
                </a:cubicBezTo>
                <a:lnTo>
                  <a:pt x="63502" y="449792"/>
                </a:lnTo>
                <a:cubicBezTo>
                  <a:pt x="28431" y="449792"/>
                  <a:pt x="0" y="421361"/>
                  <a:pt x="0" y="386290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7417" y="794171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14917" y="7941717"/>
            <a:ext cx="763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Holistic Approach:</a:t>
            </a: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consideration ensures the design is not only functional but also practical for production and long-term operation.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418681"/>
            <a:ext cx="468923" cy="33495"/>
          </a:xfrm>
          <a:custGeom>
            <a:avLst/>
            <a:gdLst/>
            <a:ahLst/>
            <a:cxnLst/>
            <a:rect l="l" t="t" r="r" b="b"/>
            <a:pathLst>
              <a:path w="468923" h="33495">
                <a:moveTo>
                  <a:pt x="0" y="0"/>
                </a:moveTo>
                <a:lnTo>
                  <a:pt x="468923" y="0"/>
                </a:lnTo>
                <a:lnTo>
                  <a:pt x="468923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4352" y="334945"/>
            <a:ext cx="946220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kern="0" spc="105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945" y="636396"/>
            <a:ext cx="3943978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and Tools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9275" y="435429"/>
            <a:ext cx="828989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56" b="1" dirty="0">
                <a:solidFill>
                  <a:srgbClr val="4A5C6A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4945" y="1172308"/>
            <a:ext cx="1160584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core competencies developed and applied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1692" y="1540747"/>
            <a:ext cx="6213231" cy="1289538"/>
          </a:xfrm>
          <a:custGeom>
            <a:avLst/>
            <a:gdLst/>
            <a:ahLst/>
            <a:cxnLst/>
            <a:rect l="l" t="t" r="r" b="b"/>
            <a:pathLst>
              <a:path w="6213231" h="1289538">
                <a:moveTo>
                  <a:pt x="33495" y="0"/>
                </a:moveTo>
                <a:lnTo>
                  <a:pt x="6146239" y="0"/>
                </a:lnTo>
                <a:cubicBezTo>
                  <a:pt x="6183238" y="0"/>
                  <a:pt x="6213231" y="29993"/>
                  <a:pt x="6213231" y="66992"/>
                </a:cubicBezTo>
                <a:lnTo>
                  <a:pt x="6213231" y="1222547"/>
                </a:lnTo>
                <a:cubicBezTo>
                  <a:pt x="6213231" y="1259545"/>
                  <a:pt x="6183238" y="1289538"/>
                  <a:pt x="6146239" y="1289538"/>
                </a:cubicBezTo>
                <a:lnTo>
                  <a:pt x="33495" y="1289538"/>
                </a:lnTo>
                <a:cubicBezTo>
                  <a:pt x="14996" y="1289538"/>
                  <a:pt x="0" y="1274542"/>
                  <a:pt x="0" y="1256044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1692" y="1540747"/>
            <a:ext cx="33495" cy="1289538"/>
          </a:xfrm>
          <a:custGeom>
            <a:avLst/>
            <a:gdLst/>
            <a:ahLst/>
            <a:cxnLst/>
            <a:rect l="l" t="t" r="r" b="b"/>
            <a:pathLst>
              <a:path w="33495" h="1289538">
                <a:moveTo>
                  <a:pt x="33495" y="0"/>
                </a:moveTo>
                <a:lnTo>
                  <a:pt x="33495" y="0"/>
                </a:lnTo>
                <a:lnTo>
                  <a:pt x="33495" y="1289538"/>
                </a:lnTo>
                <a:lnTo>
                  <a:pt x="33495" y="1289538"/>
                </a:lnTo>
                <a:cubicBezTo>
                  <a:pt x="14996" y="1289538"/>
                  <a:pt x="0" y="1274542"/>
                  <a:pt x="0" y="1256044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5912" y="1708220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769" y="1842198"/>
            <a:ext cx="251209" cy="200967"/>
          </a:xfrm>
          <a:custGeom>
            <a:avLst/>
            <a:gdLst/>
            <a:ahLst/>
            <a:cxnLst/>
            <a:rect l="l" t="t" r="r" b="b"/>
            <a:pathLst>
              <a:path w="251209" h="200967">
                <a:moveTo>
                  <a:pt x="25121" y="37681"/>
                </a:moveTo>
                <a:cubicBezTo>
                  <a:pt x="25121" y="23826"/>
                  <a:pt x="36386" y="12560"/>
                  <a:pt x="50242" y="12560"/>
                </a:cubicBezTo>
                <a:lnTo>
                  <a:pt x="200967" y="12560"/>
                </a:lnTo>
                <a:cubicBezTo>
                  <a:pt x="214823" y="12560"/>
                  <a:pt x="226088" y="23826"/>
                  <a:pt x="226088" y="37681"/>
                </a:cubicBezTo>
                <a:lnTo>
                  <a:pt x="226088" y="131885"/>
                </a:lnTo>
                <a:lnTo>
                  <a:pt x="200967" y="131885"/>
                </a:lnTo>
                <a:lnTo>
                  <a:pt x="200967" y="37681"/>
                </a:lnTo>
                <a:lnTo>
                  <a:pt x="50242" y="37681"/>
                </a:lnTo>
                <a:lnTo>
                  <a:pt x="50242" y="131885"/>
                </a:lnTo>
                <a:lnTo>
                  <a:pt x="25121" y="131885"/>
                </a:lnTo>
                <a:lnTo>
                  <a:pt x="25121" y="37681"/>
                </a:lnTo>
                <a:close/>
                <a:moveTo>
                  <a:pt x="0" y="158262"/>
                </a:moveTo>
                <a:cubicBezTo>
                  <a:pt x="0" y="154101"/>
                  <a:pt x="3376" y="150725"/>
                  <a:pt x="7536" y="150725"/>
                </a:cubicBezTo>
                <a:lnTo>
                  <a:pt x="243673" y="150725"/>
                </a:lnTo>
                <a:cubicBezTo>
                  <a:pt x="247833" y="150725"/>
                  <a:pt x="251209" y="154101"/>
                  <a:pt x="251209" y="158262"/>
                </a:cubicBezTo>
                <a:cubicBezTo>
                  <a:pt x="251209" y="174904"/>
                  <a:pt x="237706" y="188407"/>
                  <a:pt x="221064" y="188407"/>
                </a:cubicBezTo>
                <a:lnTo>
                  <a:pt x="30145" y="188407"/>
                </a:lnTo>
                <a:cubicBezTo>
                  <a:pt x="13502" y="188407"/>
                  <a:pt x="0" y="174904"/>
                  <a:pt x="0" y="158262"/>
                </a:cubicBezTo>
                <a:close/>
                <a:moveTo>
                  <a:pt x="110296" y="82035"/>
                </a:moveTo>
                <a:lnTo>
                  <a:pt x="98128" y="94203"/>
                </a:lnTo>
                <a:lnTo>
                  <a:pt x="110296" y="106371"/>
                </a:lnTo>
                <a:cubicBezTo>
                  <a:pt x="113986" y="110061"/>
                  <a:pt x="113986" y="116027"/>
                  <a:pt x="110296" y="119677"/>
                </a:cubicBezTo>
                <a:cubicBezTo>
                  <a:pt x="106607" y="123328"/>
                  <a:pt x="100641" y="123367"/>
                  <a:pt x="96990" y="119677"/>
                </a:cubicBezTo>
                <a:lnTo>
                  <a:pt x="78149" y="100837"/>
                </a:lnTo>
                <a:cubicBezTo>
                  <a:pt x="74460" y="97147"/>
                  <a:pt x="74460" y="91181"/>
                  <a:pt x="78149" y="87531"/>
                </a:cubicBezTo>
                <a:lnTo>
                  <a:pt x="96990" y="68690"/>
                </a:lnTo>
                <a:cubicBezTo>
                  <a:pt x="100680" y="65000"/>
                  <a:pt x="106646" y="65000"/>
                  <a:pt x="110296" y="68690"/>
                </a:cubicBezTo>
                <a:cubicBezTo>
                  <a:pt x="113947" y="72380"/>
                  <a:pt x="113986" y="78346"/>
                  <a:pt x="110296" y="81996"/>
                </a:cubicBezTo>
                <a:close/>
                <a:moveTo>
                  <a:pt x="154258" y="68690"/>
                </a:moveTo>
                <a:lnTo>
                  <a:pt x="173099" y="87531"/>
                </a:lnTo>
                <a:cubicBezTo>
                  <a:pt x="176788" y="91220"/>
                  <a:pt x="176788" y="97186"/>
                  <a:pt x="173099" y="100837"/>
                </a:cubicBezTo>
                <a:lnTo>
                  <a:pt x="154258" y="119677"/>
                </a:lnTo>
                <a:cubicBezTo>
                  <a:pt x="150568" y="123367"/>
                  <a:pt x="144602" y="123367"/>
                  <a:pt x="140952" y="119677"/>
                </a:cubicBezTo>
                <a:cubicBezTo>
                  <a:pt x="137301" y="115988"/>
                  <a:pt x="137262" y="110022"/>
                  <a:pt x="140952" y="106371"/>
                </a:cubicBezTo>
                <a:lnTo>
                  <a:pt x="153120" y="94203"/>
                </a:lnTo>
                <a:lnTo>
                  <a:pt x="140952" y="82035"/>
                </a:lnTo>
                <a:cubicBezTo>
                  <a:pt x="137262" y="78346"/>
                  <a:pt x="137262" y="72380"/>
                  <a:pt x="140952" y="68729"/>
                </a:cubicBezTo>
                <a:cubicBezTo>
                  <a:pt x="144641" y="65079"/>
                  <a:pt x="150608" y="65040"/>
                  <a:pt x="154258" y="6872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8813" y="1708220"/>
            <a:ext cx="534237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 Modeling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8813" y="2009670"/>
            <a:ext cx="5325626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 modeling proficiency</a:t>
            </a:r>
            <a:r>
              <a:rPr lang="en-US" sz="105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industry-standard software to create precise 3D geometries. Mastering sketch-based modeling, feature operations, and assembly constraints.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1692" y="3678810"/>
            <a:ext cx="6213231" cy="1071824"/>
          </a:xfrm>
          <a:custGeom>
            <a:avLst/>
            <a:gdLst/>
            <a:ahLst/>
            <a:cxnLst/>
            <a:rect l="l" t="t" r="r" b="b"/>
            <a:pathLst>
              <a:path w="6213231" h="1071824">
                <a:moveTo>
                  <a:pt x="33495" y="0"/>
                </a:moveTo>
                <a:lnTo>
                  <a:pt x="6146242" y="0"/>
                </a:lnTo>
                <a:cubicBezTo>
                  <a:pt x="6183239" y="0"/>
                  <a:pt x="6213231" y="29992"/>
                  <a:pt x="6213231" y="66989"/>
                </a:cubicBezTo>
                <a:lnTo>
                  <a:pt x="6213231" y="1004835"/>
                </a:lnTo>
                <a:cubicBezTo>
                  <a:pt x="6213231" y="1041832"/>
                  <a:pt x="6183239" y="1071824"/>
                  <a:pt x="6146242" y="1071824"/>
                </a:cubicBez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1692" y="3678810"/>
            <a:ext cx="33495" cy="1071824"/>
          </a:xfrm>
          <a:custGeom>
            <a:avLst/>
            <a:gdLst/>
            <a:ahLst/>
            <a:cxnLst/>
            <a:rect l="l" t="t" r="r" b="b"/>
            <a:pathLst>
              <a:path w="33495" h="1071824">
                <a:moveTo>
                  <a:pt x="33495" y="0"/>
                </a:moveTo>
                <a:lnTo>
                  <a:pt x="33495" y="0"/>
                </a:lnTo>
                <a:lnTo>
                  <a:pt x="33495" y="1071824"/>
                </a:ln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5912" y="3846283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769" y="3980261"/>
            <a:ext cx="251209" cy="200967"/>
          </a:xfrm>
          <a:custGeom>
            <a:avLst/>
            <a:gdLst/>
            <a:ahLst/>
            <a:cxnLst/>
            <a:rect l="l" t="t" r="r" b="b"/>
            <a:pathLst>
              <a:path w="251209" h="200967">
                <a:moveTo>
                  <a:pt x="163246" y="82624"/>
                </a:moveTo>
                <a:cubicBezTo>
                  <a:pt x="168035" y="81329"/>
                  <a:pt x="173059" y="83605"/>
                  <a:pt x="175218" y="88041"/>
                </a:cubicBezTo>
                <a:lnTo>
                  <a:pt x="182519" y="102799"/>
                </a:lnTo>
                <a:cubicBezTo>
                  <a:pt x="186562" y="103349"/>
                  <a:pt x="190526" y="104448"/>
                  <a:pt x="194255" y="105979"/>
                </a:cubicBezTo>
                <a:lnTo>
                  <a:pt x="207993" y="96833"/>
                </a:lnTo>
                <a:cubicBezTo>
                  <a:pt x="212114" y="94086"/>
                  <a:pt x="217570" y="94635"/>
                  <a:pt x="221064" y="98128"/>
                </a:cubicBezTo>
                <a:lnTo>
                  <a:pt x="228600" y="105665"/>
                </a:lnTo>
                <a:cubicBezTo>
                  <a:pt x="232093" y="109158"/>
                  <a:pt x="232643" y="114653"/>
                  <a:pt x="229895" y="118735"/>
                </a:cubicBezTo>
                <a:lnTo>
                  <a:pt x="220750" y="132434"/>
                </a:lnTo>
                <a:cubicBezTo>
                  <a:pt x="221496" y="134279"/>
                  <a:pt x="222163" y="136202"/>
                  <a:pt x="222712" y="138204"/>
                </a:cubicBezTo>
                <a:cubicBezTo>
                  <a:pt x="223262" y="140206"/>
                  <a:pt x="223615" y="142168"/>
                  <a:pt x="223890" y="144170"/>
                </a:cubicBezTo>
                <a:lnTo>
                  <a:pt x="238688" y="151471"/>
                </a:lnTo>
                <a:cubicBezTo>
                  <a:pt x="243123" y="153669"/>
                  <a:pt x="245400" y="158693"/>
                  <a:pt x="244104" y="163443"/>
                </a:cubicBezTo>
                <a:lnTo>
                  <a:pt x="241357" y="173727"/>
                </a:lnTo>
                <a:cubicBezTo>
                  <a:pt x="240061" y="178476"/>
                  <a:pt x="235626" y="181695"/>
                  <a:pt x="230680" y="181381"/>
                </a:cubicBezTo>
                <a:lnTo>
                  <a:pt x="214195" y="180321"/>
                </a:lnTo>
                <a:cubicBezTo>
                  <a:pt x="211722" y="183500"/>
                  <a:pt x="208857" y="186444"/>
                  <a:pt x="205599" y="188956"/>
                </a:cubicBezTo>
                <a:lnTo>
                  <a:pt x="206658" y="205402"/>
                </a:lnTo>
                <a:cubicBezTo>
                  <a:pt x="206972" y="210348"/>
                  <a:pt x="203754" y="214823"/>
                  <a:pt x="199004" y="216079"/>
                </a:cubicBezTo>
                <a:lnTo>
                  <a:pt x="188721" y="218826"/>
                </a:lnTo>
                <a:cubicBezTo>
                  <a:pt x="183932" y="220122"/>
                  <a:pt x="178947" y="217845"/>
                  <a:pt x="176749" y="213410"/>
                </a:cubicBezTo>
                <a:lnTo>
                  <a:pt x="169448" y="198651"/>
                </a:lnTo>
                <a:cubicBezTo>
                  <a:pt x="165405" y="198102"/>
                  <a:pt x="161441" y="197003"/>
                  <a:pt x="157712" y="195472"/>
                </a:cubicBezTo>
                <a:lnTo>
                  <a:pt x="143974" y="204617"/>
                </a:lnTo>
                <a:cubicBezTo>
                  <a:pt x="139853" y="207365"/>
                  <a:pt x="134397" y="206815"/>
                  <a:pt x="130903" y="203322"/>
                </a:cubicBezTo>
                <a:lnTo>
                  <a:pt x="123367" y="195786"/>
                </a:lnTo>
                <a:cubicBezTo>
                  <a:pt x="119874" y="192292"/>
                  <a:pt x="119324" y="186837"/>
                  <a:pt x="122072" y="182715"/>
                </a:cubicBezTo>
                <a:lnTo>
                  <a:pt x="131217" y="168977"/>
                </a:lnTo>
                <a:cubicBezTo>
                  <a:pt x="130472" y="167132"/>
                  <a:pt x="129804" y="165209"/>
                  <a:pt x="129255" y="163207"/>
                </a:cubicBezTo>
                <a:cubicBezTo>
                  <a:pt x="128705" y="161205"/>
                  <a:pt x="128352" y="159204"/>
                  <a:pt x="128077" y="157241"/>
                </a:cubicBezTo>
                <a:lnTo>
                  <a:pt x="113279" y="149940"/>
                </a:lnTo>
                <a:cubicBezTo>
                  <a:pt x="108844" y="147742"/>
                  <a:pt x="106607" y="142718"/>
                  <a:pt x="107863" y="137969"/>
                </a:cubicBezTo>
                <a:lnTo>
                  <a:pt x="110610" y="127685"/>
                </a:lnTo>
                <a:cubicBezTo>
                  <a:pt x="111906" y="122935"/>
                  <a:pt x="116341" y="119717"/>
                  <a:pt x="121287" y="120031"/>
                </a:cubicBezTo>
                <a:lnTo>
                  <a:pt x="137733" y="121090"/>
                </a:lnTo>
                <a:cubicBezTo>
                  <a:pt x="140206" y="117911"/>
                  <a:pt x="143071" y="114967"/>
                  <a:pt x="146329" y="112455"/>
                </a:cubicBezTo>
                <a:lnTo>
                  <a:pt x="145269" y="96048"/>
                </a:lnTo>
                <a:cubicBezTo>
                  <a:pt x="144955" y="91102"/>
                  <a:pt x="148174" y="86628"/>
                  <a:pt x="152923" y="85372"/>
                </a:cubicBezTo>
                <a:lnTo>
                  <a:pt x="163207" y="82624"/>
                </a:lnTo>
                <a:close/>
                <a:moveTo>
                  <a:pt x="176003" y="133455"/>
                </a:moveTo>
                <a:cubicBezTo>
                  <a:pt x="166471" y="133466"/>
                  <a:pt x="158741" y="141213"/>
                  <a:pt x="158752" y="150745"/>
                </a:cubicBezTo>
                <a:cubicBezTo>
                  <a:pt x="158763" y="160277"/>
                  <a:pt x="166511" y="168007"/>
                  <a:pt x="176042" y="167996"/>
                </a:cubicBezTo>
                <a:cubicBezTo>
                  <a:pt x="185574" y="167985"/>
                  <a:pt x="193304" y="160238"/>
                  <a:pt x="193293" y="150706"/>
                </a:cubicBezTo>
                <a:cubicBezTo>
                  <a:pt x="193283" y="141174"/>
                  <a:pt x="185535" y="133444"/>
                  <a:pt x="176003" y="133455"/>
                </a:cubicBezTo>
                <a:close/>
                <a:moveTo>
                  <a:pt x="88276" y="-17859"/>
                </a:moveTo>
                <a:lnTo>
                  <a:pt x="98560" y="-15112"/>
                </a:lnTo>
                <a:cubicBezTo>
                  <a:pt x="103310" y="-13816"/>
                  <a:pt x="106528" y="-9342"/>
                  <a:pt x="106214" y="-4435"/>
                </a:cubicBezTo>
                <a:lnTo>
                  <a:pt x="105154" y="11972"/>
                </a:lnTo>
                <a:cubicBezTo>
                  <a:pt x="108412" y="14484"/>
                  <a:pt x="111278" y="17388"/>
                  <a:pt x="113750" y="20607"/>
                </a:cubicBezTo>
                <a:lnTo>
                  <a:pt x="130236" y="19547"/>
                </a:lnTo>
                <a:cubicBezTo>
                  <a:pt x="135142" y="19233"/>
                  <a:pt x="139617" y="22452"/>
                  <a:pt x="140912" y="27201"/>
                </a:cubicBezTo>
                <a:lnTo>
                  <a:pt x="143660" y="37485"/>
                </a:lnTo>
                <a:cubicBezTo>
                  <a:pt x="144916" y="42234"/>
                  <a:pt x="142679" y="47259"/>
                  <a:pt x="138243" y="49457"/>
                </a:cubicBezTo>
                <a:lnTo>
                  <a:pt x="123446" y="56757"/>
                </a:lnTo>
                <a:cubicBezTo>
                  <a:pt x="123171" y="58759"/>
                  <a:pt x="122778" y="60761"/>
                  <a:pt x="122268" y="62724"/>
                </a:cubicBezTo>
                <a:cubicBezTo>
                  <a:pt x="121758" y="64686"/>
                  <a:pt x="121051" y="66649"/>
                  <a:pt x="120305" y="68494"/>
                </a:cubicBezTo>
                <a:lnTo>
                  <a:pt x="129451" y="82232"/>
                </a:lnTo>
                <a:cubicBezTo>
                  <a:pt x="132199" y="86353"/>
                  <a:pt x="131649" y="91809"/>
                  <a:pt x="128156" y="95302"/>
                </a:cubicBezTo>
                <a:lnTo>
                  <a:pt x="120619" y="102839"/>
                </a:lnTo>
                <a:cubicBezTo>
                  <a:pt x="117126" y="106332"/>
                  <a:pt x="111670" y="106881"/>
                  <a:pt x="107549" y="104134"/>
                </a:cubicBezTo>
                <a:lnTo>
                  <a:pt x="93811" y="94988"/>
                </a:lnTo>
                <a:cubicBezTo>
                  <a:pt x="90082" y="96519"/>
                  <a:pt x="86118" y="97618"/>
                  <a:pt x="82075" y="98168"/>
                </a:cubicBezTo>
                <a:lnTo>
                  <a:pt x="74774" y="112926"/>
                </a:lnTo>
                <a:cubicBezTo>
                  <a:pt x="72576" y="117362"/>
                  <a:pt x="67552" y="119599"/>
                  <a:pt x="62802" y="118343"/>
                </a:cubicBezTo>
                <a:lnTo>
                  <a:pt x="52518" y="115595"/>
                </a:lnTo>
                <a:cubicBezTo>
                  <a:pt x="47730" y="114300"/>
                  <a:pt x="44550" y="109825"/>
                  <a:pt x="44864" y="104919"/>
                </a:cubicBezTo>
                <a:lnTo>
                  <a:pt x="45924" y="88473"/>
                </a:lnTo>
                <a:cubicBezTo>
                  <a:pt x="42666" y="85961"/>
                  <a:pt x="39801" y="83056"/>
                  <a:pt x="37328" y="79837"/>
                </a:cubicBezTo>
                <a:lnTo>
                  <a:pt x="20842" y="80897"/>
                </a:lnTo>
                <a:cubicBezTo>
                  <a:pt x="15936" y="81211"/>
                  <a:pt x="11461" y="77992"/>
                  <a:pt x="10166" y="73243"/>
                </a:cubicBezTo>
                <a:lnTo>
                  <a:pt x="7419" y="62959"/>
                </a:lnTo>
                <a:cubicBezTo>
                  <a:pt x="6162" y="58210"/>
                  <a:pt x="8400" y="53186"/>
                  <a:pt x="12835" y="50988"/>
                </a:cubicBezTo>
                <a:lnTo>
                  <a:pt x="27633" y="43687"/>
                </a:lnTo>
                <a:cubicBezTo>
                  <a:pt x="27908" y="41685"/>
                  <a:pt x="28300" y="39722"/>
                  <a:pt x="28811" y="37721"/>
                </a:cubicBezTo>
                <a:cubicBezTo>
                  <a:pt x="29360" y="35719"/>
                  <a:pt x="29988" y="33795"/>
                  <a:pt x="30773" y="31951"/>
                </a:cubicBezTo>
                <a:lnTo>
                  <a:pt x="21628" y="18252"/>
                </a:lnTo>
                <a:cubicBezTo>
                  <a:pt x="18880" y="14130"/>
                  <a:pt x="19429" y="8675"/>
                  <a:pt x="22923" y="5181"/>
                </a:cubicBezTo>
                <a:lnTo>
                  <a:pt x="30459" y="-2355"/>
                </a:lnTo>
                <a:cubicBezTo>
                  <a:pt x="33952" y="-5848"/>
                  <a:pt x="39408" y="-6398"/>
                  <a:pt x="43530" y="-3650"/>
                </a:cubicBezTo>
                <a:lnTo>
                  <a:pt x="57268" y="5495"/>
                </a:lnTo>
                <a:cubicBezTo>
                  <a:pt x="60997" y="3964"/>
                  <a:pt x="64961" y="2865"/>
                  <a:pt x="69004" y="2316"/>
                </a:cubicBezTo>
                <a:lnTo>
                  <a:pt x="76305" y="-12443"/>
                </a:lnTo>
                <a:cubicBezTo>
                  <a:pt x="78503" y="-16878"/>
                  <a:pt x="83488" y="-19115"/>
                  <a:pt x="88276" y="-17859"/>
                </a:cubicBezTo>
                <a:close/>
                <a:moveTo>
                  <a:pt x="75520" y="32971"/>
                </a:moveTo>
                <a:cubicBezTo>
                  <a:pt x="65988" y="32971"/>
                  <a:pt x="58249" y="40710"/>
                  <a:pt x="58249" y="50242"/>
                </a:cubicBezTo>
                <a:cubicBezTo>
                  <a:pt x="58249" y="59774"/>
                  <a:pt x="65988" y="67512"/>
                  <a:pt x="75520" y="67512"/>
                </a:cubicBezTo>
                <a:cubicBezTo>
                  <a:pt x="85052" y="67512"/>
                  <a:pt x="92790" y="59774"/>
                  <a:pt x="92790" y="50242"/>
                </a:cubicBezTo>
                <a:cubicBezTo>
                  <a:pt x="92790" y="40710"/>
                  <a:pt x="85052" y="32971"/>
                  <a:pt x="75520" y="3297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38813" y="3846283"/>
            <a:ext cx="534237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8813" y="4147734"/>
            <a:ext cx="5325626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Mechanical component design</a:t>
            </a:r>
            <a:r>
              <a:rPr lang="en-US" sz="105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skills for creating functional parts that meet performance requirements. Understanding fit, form, and function relationships.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1692" y="5599163"/>
            <a:ext cx="6213231" cy="1071824"/>
          </a:xfrm>
          <a:custGeom>
            <a:avLst/>
            <a:gdLst/>
            <a:ahLst/>
            <a:cxnLst/>
            <a:rect l="l" t="t" r="r" b="b"/>
            <a:pathLst>
              <a:path w="6213231" h="1071824">
                <a:moveTo>
                  <a:pt x="33495" y="0"/>
                </a:moveTo>
                <a:lnTo>
                  <a:pt x="6146242" y="0"/>
                </a:lnTo>
                <a:cubicBezTo>
                  <a:pt x="6183239" y="0"/>
                  <a:pt x="6213231" y="29992"/>
                  <a:pt x="6213231" y="66989"/>
                </a:cubicBezTo>
                <a:lnTo>
                  <a:pt x="6213231" y="1004835"/>
                </a:lnTo>
                <a:cubicBezTo>
                  <a:pt x="6213231" y="1041832"/>
                  <a:pt x="6183239" y="1071824"/>
                  <a:pt x="6146242" y="1071824"/>
                </a:cubicBez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1692" y="5599163"/>
            <a:ext cx="33495" cy="1071824"/>
          </a:xfrm>
          <a:custGeom>
            <a:avLst/>
            <a:gdLst/>
            <a:ahLst/>
            <a:cxnLst/>
            <a:rect l="l" t="t" r="r" b="b"/>
            <a:pathLst>
              <a:path w="33495" h="1071824">
                <a:moveTo>
                  <a:pt x="33495" y="0"/>
                </a:moveTo>
                <a:lnTo>
                  <a:pt x="33495" y="0"/>
                </a:lnTo>
                <a:lnTo>
                  <a:pt x="33495" y="1071824"/>
                </a:ln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5912" y="5766636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9890" y="5900614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38977" y="100523"/>
                </a:moveTo>
                <a:lnTo>
                  <a:pt x="66217" y="53460"/>
                </a:lnTo>
                <a:cubicBezTo>
                  <a:pt x="64019" y="48672"/>
                  <a:pt x="62763" y="43334"/>
                  <a:pt x="62763" y="37681"/>
                </a:cubicBezTo>
                <a:cubicBezTo>
                  <a:pt x="62763" y="16878"/>
                  <a:pt x="79641" y="0"/>
                  <a:pt x="100444" y="0"/>
                </a:cubicBezTo>
                <a:cubicBezTo>
                  <a:pt x="121247" y="0"/>
                  <a:pt x="138126" y="16878"/>
                  <a:pt x="138126" y="37681"/>
                </a:cubicBezTo>
                <a:cubicBezTo>
                  <a:pt x="138126" y="43294"/>
                  <a:pt x="136909" y="48632"/>
                  <a:pt x="134671" y="53460"/>
                </a:cubicBezTo>
                <a:lnTo>
                  <a:pt x="152099" y="83566"/>
                </a:lnTo>
                <a:cubicBezTo>
                  <a:pt x="143032" y="93772"/>
                  <a:pt x="131021" y="101269"/>
                  <a:pt x="117401" y="104683"/>
                </a:cubicBezTo>
                <a:lnTo>
                  <a:pt x="100484" y="75323"/>
                </a:lnTo>
                <a:lnTo>
                  <a:pt x="73753" y="121483"/>
                </a:lnTo>
                <a:cubicBezTo>
                  <a:pt x="82192" y="124152"/>
                  <a:pt x="91142" y="125604"/>
                  <a:pt x="100484" y="125604"/>
                </a:cubicBezTo>
                <a:cubicBezTo>
                  <a:pt x="128234" y="125604"/>
                  <a:pt x="153002" y="112769"/>
                  <a:pt x="169134" y="92633"/>
                </a:cubicBezTo>
                <a:cubicBezTo>
                  <a:pt x="173491" y="87217"/>
                  <a:pt x="181381" y="86353"/>
                  <a:pt x="186797" y="90671"/>
                </a:cubicBezTo>
                <a:cubicBezTo>
                  <a:pt x="192214" y="94988"/>
                  <a:pt x="193078" y="102917"/>
                  <a:pt x="188760" y="108334"/>
                </a:cubicBezTo>
                <a:cubicBezTo>
                  <a:pt x="168074" y="134161"/>
                  <a:pt x="136202" y="150725"/>
                  <a:pt x="100523" y="150725"/>
                </a:cubicBezTo>
                <a:cubicBezTo>
                  <a:pt x="86628" y="150725"/>
                  <a:pt x="73282" y="148213"/>
                  <a:pt x="60997" y="143621"/>
                </a:cubicBezTo>
                <a:lnTo>
                  <a:pt x="38741" y="182009"/>
                </a:lnTo>
                <a:cubicBezTo>
                  <a:pt x="36896" y="185188"/>
                  <a:pt x="34149" y="187779"/>
                  <a:pt x="30852" y="189427"/>
                </a:cubicBezTo>
                <a:lnTo>
                  <a:pt x="9106" y="200300"/>
                </a:lnTo>
                <a:cubicBezTo>
                  <a:pt x="7144" y="201281"/>
                  <a:pt x="4828" y="201163"/>
                  <a:pt x="2983" y="200025"/>
                </a:cubicBezTo>
                <a:cubicBezTo>
                  <a:pt x="1138" y="198887"/>
                  <a:pt x="0" y="196846"/>
                  <a:pt x="0" y="194687"/>
                </a:cubicBezTo>
                <a:lnTo>
                  <a:pt x="0" y="172942"/>
                </a:lnTo>
                <a:cubicBezTo>
                  <a:pt x="0" y="169644"/>
                  <a:pt x="864" y="166387"/>
                  <a:pt x="2551" y="163482"/>
                </a:cubicBezTo>
                <a:lnTo>
                  <a:pt x="26102" y="122778"/>
                </a:lnTo>
                <a:cubicBezTo>
                  <a:pt x="21078" y="118382"/>
                  <a:pt x="16446" y="113554"/>
                  <a:pt x="12246" y="108334"/>
                </a:cubicBezTo>
                <a:cubicBezTo>
                  <a:pt x="7890" y="102917"/>
                  <a:pt x="8792" y="95028"/>
                  <a:pt x="14209" y="90671"/>
                </a:cubicBezTo>
                <a:cubicBezTo>
                  <a:pt x="19626" y="86314"/>
                  <a:pt x="27515" y="87217"/>
                  <a:pt x="31872" y="92633"/>
                </a:cubicBezTo>
                <a:cubicBezTo>
                  <a:pt x="34109" y="95420"/>
                  <a:pt x="36504" y="98050"/>
                  <a:pt x="39016" y="100523"/>
                </a:cubicBezTo>
                <a:close/>
                <a:moveTo>
                  <a:pt x="149587" y="160106"/>
                </a:moveTo>
                <a:cubicBezTo>
                  <a:pt x="162344" y="155004"/>
                  <a:pt x="174080" y="147938"/>
                  <a:pt x="184481" y="139342"/>
                </a:cubicBezTo>
                <a:lnTo>
                  <a:pt x="198455" y="163482"/>
                </a:lnTo>
                <a:cubicBezTo>
                  <a:pt x="200104" y="166347"/>
                  <a:pt x="201006" y="169605"/>
                  <a:pt x="201006" y="172942"/>
                </a:cubicBezTo>
                <a:lnTo>
                  <a:pt x="201006" y="194687"/>
                </a:lnTo>
                <a:cubicBezTo>
                  <a:pt x="201006" y="196846"/>
                  <a:pt x="199868" y="198887"/>
                  <a:pt x="198023" y="200025"/>
                </a:cubicBezTo>
                <a:cubicBezTo>
                  <a:pt x="196178" y="201163"/>
                  <a:pt x="193863" y="201281"/>
                  <a:pt x="191900" y="200300"/>
                </a:cubicBezTo>
                <a:lnTo>
                  <a:pt x="170155" y="189427"/>
                </a:lnTo>
                <a:cubicBezTo>
                  <a:pt x="166858" y="187779"/>
                  <a:pt x="164110" y="185188"/>
                  <a:pt x="162265" y="182009"/>
                </a:cubicBezTo>
                <a:lnTo>
                  <a:pt x="149587" y="160106"/>
                </a:lnTo>
                <a:close/>
                <a:moveTo>
                  <a:pt x="100484" y="50242"/>
                </a:moveTo>
                <a:cubicBezTo>
                  <a:pt x="107416" y="50242"/>
                  <a:pt x="113044" y="44614"/>
                  <a:pt x="113044" y="37681"/>
                </a:cubicBezTo>
                <a:cubicBezTo>
                  <a:pt x="113044" y="30749"/>
                  <a:pt x="107416" y="25121"/>
                  <a:pt x="100484" y="25121"/>
                </a:cubicBezTo>
                <a:cubicBezTo>
                  <a:pt x="93551" y="25121"/>
                  <a:pt x="87923" y="30749"/>
                  <a:pt x="87923" y="37681"/>
                </a:cubicBezTo>
                <a:cubicBezTo>
                  <a:pt x="87923" y="44614"/>
                  <a:pt x="93551" y="50242"/>
                  <a:pt x="100484" y="5024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8813" y="5766636"/>
            <a:ext cx="534237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Drawing Interpretation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8813" y="6068087"/>
            <a:ext cx="5325626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drawing interpretation</a:t>
            </a:r>
            <a:r>
              <a:rPr lang="en-US" sz="105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abilities to translate 2D technical documentation into 3D models. Reading orthographic projections, sections, and detail views.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9323" y="1540747"/>
            <a:ext cx="5074418" cy="1071824"/>
          </a:xfrm>
          <a:custGeom>
            <a:avLst/>
            <a:gdLst/>
            <a:ahLst/>
            <a:cxnLst/>
            <a:rect l="l" t="t" r="r" b="b"/>
            <a:pathLst>
              <a:path w="5074418" h="1071824">
                <a:moveTo>
                  <a:pt x="33495" y="0"/>
                </a:moveTo>
                <a:lnTo>
                  <a:pt x="5007429" y="0"/>
                </a:lnTo>
                <a:cubicBezTo>
                  <a:pt x="5044426" y="0"/>
                  <a:pt x="5074418" y="29992"/>
                  <a:pt x="5074418" y="66989"/>
                </a:cubicBezTo>
                <a:lnTo>
                  <a:pt x="5074418" y="1004835"/>
                </a:lnTo>
                <a:cubicBezTo>
                  <a:pt x="5074418" y="1041832"/>
                  <a:pt x="5044426" y="1071824"/>
                  <a:pt x="5007429" y="1071824"/>
                </a:cubicBez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79323" y="1540747"/>
            <a:ext cx="33495" cy="1071824"/>
          </a:xfrm>
          <a:custGeom>
            <a:avLst/>
            <a:gdLst/>
            <a:ahLst/>
            <a:cxnLst/>
            <a:rect l="l" t="t" r="r" b="b"/>
            <a:pathLst>
              <a:path w="33495" h="1071824">
                <a:moveTo>
                  <a:pt x="33495" y="0"/>
                </a:moveTo>
                <a:lnTo>
                  <a:pt x="33495" y="0"/>
                </a:lnTo>
                <a:lnTo>
                  <a:pt x="33495" y="1071824"/>
                </a:ln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63543" y="1708220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84960" y="1842198"/>
            <a:ext cx="226088" cy="200967"/>
          </a:xfrm>
          <a:custGeom>
            <a:avLst/>
            <a:gdLst/>
            <a:ahLst/>
            <a:cxnLst/>
            <a:rect l="l" t="t" r="r" b="b"/>
            <a:pathLst>
              <a:path w="226088" h="200967">
                <a:moveTo>
                  <a:pt x="82075" y="202616"/>
                </a:moveTo>
                <a:cubicBezTo>
                  <a:pt x="74735" y="209956"/>
                  <a:pt x="62802" y="209956"/>
                  <a:pt x="55423" y="202616"/>
                </a:cubicBezTo>
                <a:lnTo>
                  <a:pt x="11030" y="158222"/>
                </a:lnTo>
                <a:cubicBezTo>
                  <a:pt x="3690" y="150882"/>
                  <a:pt x="3690" y="138950"/>
                  <a:pt x="11030" y="131571"/>
                </a:cubicBezTo>
                <a:lnTo>
                  <a:pt x="17702" y="124898"/>
                </a:lnTo>
                <a:lnTo>
                  <a:pt x="46552" y="153748"/>
                </a:lnTo>
                <a:cubicBezTo>
                  <a:pt x="50242" y="157437"/>
                  <a:pt x="56208" y="157437"/>
                  <a:pt x="59858" y="153748"/>
                </a:cubicBezTo>
                <a:cubicBezTo>
                  <a:pt x="63509" y="150058"/>
                  <a:pt x="63548" y="144092"/>
                  <a:pt x="59858" y="140441"/>
                </a:cubicBezTo>
                <a:lnTo>
                  <a:pt x="31009" y="111592"/>
                </a:lnTo>
                <a:lnTo>
                  <a:pt x="44315" y="98285"/>
                </a:lnTo>
                <a:lnTo>
                  <a:pt x="64294" y="118264"/>
                </a:lnTo>
                <a:cubicBezTo>
                  <a:pt x="67983" y="121954"/>
                  <a:pt x="73950" y="121954"/>
                  <a:pt x="77600" y="118264"/>
                </a:cubicBezTo>
                <a:cubicBezTo>
                  <a:pt x="81250" y="114575"/>
                  <a:pt x="81290" y="108609"/>
                  <a:pt x="77600" y="104958"/>
                </a:cubicBezTo>
                <a:lnTo>
                  <a:pt x="57621" y="84979"/>
                </a:lnTo>
                <a:lnTo>
                  <a:pt x="70927" y="71673"/>
                </a:lnTo>
                <a:lnTo>
                  <a:pt x="99777" y="100523"/>
                </a:lnTo>
                <a:cubicBezTo>
                  <a:pt x="103467" y="104212"/>
                  <a:pt x="109433" y="104212"/>
                  <a:pt x="113083" y="100523"/>
                </a:cubicBezTo>
                <a:cubicBezTo>
                  <a:pt x="116734" y="96833"/>
                  <a:pt x="116773" y="90867"/>
                  <a:pt x="113083" y="87217"/>
                </a:cubicBezTo>
                <a:lnTo>
                  <a:pt x="84233" y="58367"/>
                </a:lnTo>
                <a:lnTo>
                  <a:pt x="97540" y="45061"/>
                </a:lnTo>
                <a:lnTo>
                  <a:pt x="117519" y="65040"/>
                </a:lnTo>
                <a:cubicBezTo>
                  <a:pt x="121208" y="68729"/>
                  <a:pt x="127174" y="68729"/>
                  <a:pt x="130825" y="65040"/>
                </a:cubicBezTo>
                <a:cubicBezTo>
                  <a:pt x="134475" y="61350"/>
                  <a:pt x="134514" y="55384"/>
                  <a:pt x="130825" y="51733"/>
                </a:cubicBezTo>
                <a:lnTo>
                  <a:pt x="110846" y="31754"/>
                </a:lnTo>
                <a:lnTo>
                  <a:pt x="124152" y="18448"/>
                </a:lnTo>
                <a:lnTo>
                  <a:pt x="153002" y="47298"/>
                </a:lnTo>
                <a:cubicBezTo>
                  <a:pt x="156691" y="50988"/>
                  <a:pt x="162658" y="50988"/>
                  <a:pt x="166308" y="47298"/>
                </a:cubicBezTo>
                <a:cubicBezTo>
                  <a:pt x="169958" y="43608"/>
                  <a:pt x="169998" y="37642"/>
                  <a:pt x="166308" y="33992"/>
                </a:cubicBezTo>
                <a:lnTo>
                  <a:pt x="137458" y="5142"/>
                </a:lnTo>
                <a:lnTo>
                  <a:pt x="144131" y="-1531"/>
                </a:lnTo>
                <a:cubicBezTo>
                  <a:pt x="151471" y="-8871"/>
                  <a:pt x="163403" y="-8871"/>
                  <a:pt x="170783" y="-1531"/>
                </a:cubicBezTo>
                <a:lnTo>
                  <a:pt x="215294" y="42745"/>
                </a:lnTo>
                <a:cubicBezTo>
                  <a:pt x="222634" y="50085"/>
                  <a:pt x="222634" y="62017"/>
                  <a:pt x="215294" y="69396"/>
                </a:cubicBezTo>
                <a:lnTo>
                  <a:pt x="82075" y="20261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66444" y="1708220"/>
            <a:ext cx="420356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Dimensioning &amp; Tolerancing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66444" y="2009670"/>
            <a:ext cx="418681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Dimensioning and tolerancing</a:t>
            </a:r>
            <a:r>
              <a:rPr lang="en-US" sz="105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expertise applying GD&amp;T standards. Specifying size, location, and geometric controls for manufacturing.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79323" y="2746549"/>
            <a:ext cx="5074418" cy="1071824"/>
          </a:xfrm>
          <a:custGeom>
            <a:avLst/>
            <a:gdLst/>
            <a:ahLst/>
            <a:cxnLst/>
            <a:rect l="l" t="t" r="r" b="b"/>
            <a:pathLst>
              <a:path w="5074418" h="1071824">
                <a:moveTo>
                  <a:pt x="33495" y="0"/>
                </a:moveTo>
                <a:lnTo>
                  <a:pt x="5007429" y="0"/>
                </a:lnTo>
                <a:cubicBezTo>
                  <a:pt x="5044426" y="0"/>
                  <a:pt x="5074418" y="29992"/>
                  <a:pt x="5074418" y="66989"/>
                </a:cubicBezTo>
                <a:lnTo>
                  <a:pt x="5074418" y="1004835"/>
                </a:lnTo>
                <a:cubicBezTo>
                  <a:pt x="5074418" y="1041832"/>
                  <a:pt x="5044426" y="1071824"/>
                  <a:pt x="5007429" y="1071824"/>
                </a:cubicBez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79323" y="2746549"/>
            <a:ext cx="33495" cy="1071824"/>
          </a:xfrm>
          <a:custGeom>
            <a:avLst/>
            <a:gdLst/>
            <a:ahLst/>
            <a:cxnLst/>
            <a:rect l="l" t="t" r="r" b="b"/>
            <a:pathLst>
              <a:path w="33495" h="1071824">
                <a:moveTo>
                  <a:pt x="33495" y="0"/>
                </a:moveTo>
                <a:lnTo>
                  <a:pt x="33495" y="0"/>
                </a:lnTo>
                <a:lnTo>
                  <a:pt x="33495" y="1071824"/>
                </a:lnTo>
                <a:lnTo>
                  <a:pt x="33495" y="1071824"/>
                </a:lnTo>
                <a:cubicBezTo>
                  <a:pt x="14996" y="1071824"/>
                  <a:pt x="0" y="1056828"/>
                  <a:pt x="0" y="103833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63543" y="2914022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97521" y="3048000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47102" y="21981"/>
                </a:moveTo>
                <a:cubicBezTo>
                  <a:pt x="47102" y="9852"/>
                  <a:pt x="56954" y="0"/>
                  <a:pt x="69082" y="0"/>
                </a:cubicBezTo>
                <a:lnTo>
                  <a:pt x="78503" y="0"/>
                </a:lnTo>
                <a:cubicBezTo>
                  <a:pt x="85450" y="0"/>
                  <a:pt x="91063" y="5613"/>
                  <a:pt x="91063" y="12560"/>
                </a:cubicBezTo>
                <a:lnTo>
                  <a:pt x="91063" y="188407"/>
                </a:lnTo>
                <a:cubicBezTo>
                  <a:pt x="91063" y="195354"/>
                  <a:pt x="85450" y="200967"/>
                  <a:pt x="78503" y="200967"/>
                </a:cubicBezTo>
                <a:lnTo>
                  <a:pt x="65942" y="200967"/>
                </a:lnTo>
                <a:cubicBezTo>
                  <a:pt x="54245" y="200967"/>
                  <a:pt x="44393" y="192960"/>
                  <a:pt x="41606" y="182126"/>
                </a:cubicBezTo>
                <a:cubicBezTo>
                  <a:pt x="41332" y="182126"/>
                  <a:pt x="41096" y="182126"/>
                  <a:pt x="40821" y="182126"/>
                </a:cubicBezTo>
                <a:cubicBezTo>
                  <a:pt x="23472" y="182126"/>
                  <a:pt x="9420" y="168074"/>
                  <a:pt x="9420" y="150725"/>
                </a:cubicBezTo>
                <a:cubicBezTo>
                  <a:pt x="9420" y="143660"/>
                  <a:pt x="11775" y="137144"/>
                  <a:pt x="15701" y="131885"/>
                </a:cubicBezTo>
                <a:cubicBezTo>
                  <a:pt x="8086" y="126154"/>
                  <a:pt x="3140" y="117048"/>
                  <a:pt x="3140" y="106764"/>
                </a:cubicBezTo>
                <a:cubicBezTo>
                  <a:pt x="3140" y="94635"/>
                  <a:pt x="10048" y="84076"/>
                  <a:pt x="20097" y="78856"/>
                </a:cubicBezTo>
                <a:cubicBezTo>
                  <a:pt x="17310" y="74146"/>
                  <a:pt x="15701" y="68651"/>
                  <a:pt x="15701" y="62802"/>
                </a:cubicBezTo>
                <a:cubicBezTo>
                  <a:pt x="15701" y="45453"/>
                  <a:pt x="29753" y="31401"/>
                  <a:pt x="47102" y="31401"/>
                </a:cubicBezTo>
                <a:lnTo>
                  <a:pt x="47102" y="21981"/>
                </a:lnTo>
                <a:close/>
                <a:moveTo>
                  <a:pt x="153865" y="21981"/>
                </a:moveTo>
                <a:lnTo>
                  <a:pt x="153865" y="31401"/>
                </a:lnTo>
                <a:cubicBezTo>
                  <a:pt x="171214" y="31401"/>
                  <a:pt x="185266" y="45453"/>
                  <a:pt x="185266" y="62802"/>
                </a:cubicBezTo>
                <a:cubicBezTo>
                  <a:pt x="185266" y="68690"/>
                  <a:pt x="183657" y="74185"/>
                  <a:pt x="180870" y="78856"/>
                </a:cubicBezTo>
                <a:cubicBezTo>
                  <a:pt x="190958" y="84076"/>
                  <a:pt x="197827" y="94596"/>
                  <a:pt x="197827" y="106764"/>
                </a:cubicBezTo>
                <a:cubicBezTo>
                  <a:pt x="197827" y="117048"/>
                  <a:pt x="192881" y="126154"/>
                  <a:pt x="185266" y="131885"/>
                </a:cubicBezTo>
                <a:cubicBezTo>
                  <a:pt x="189192" y="137144"/>
                  <a:pt x="191547" y="143660"/>
                  <a:pt x="191547" y="150725"/>
                </a:cubicBezTo>
                <a:cubicBezTo>
                  <a:pt x="191547" y="168074"/>
                  <a:pt x="177495" y="182126"/>
                  <a:pt x="160146" y="182126"/>
                </a:cubicBezTo>
                <a:cubicBezTo>
                  <a:pt x="159871" y="182126"/>
                  <a:pt x="159635" y="182126"/>
                  <a:pt x="159361" y="182126"/>
                </a:cubicBezTo>
                <a:cubicBezTo>
                  <a:pt x="156574" y="192960"/>
                  <a:pt x="146722" y="200967"/>
                  <a:pt x="135025" y="200967"/>
                </a:cubicBezTo>
                <a:lnTo>
                  <a:pt x="122464" y="200967"/>
                </a:lnTo>
                <a:cubicBezTo>
                  <a:pt x="115517" y="200967"/>
                  <a:pt x="109904" y="195354"/>
                  <a:pt x="109904" y="188407"/>
                </a:cubicBezTo>
                <a:lnTo>
                  <a:pt x="109904" y="12560"/>
                </a:lnTo>
                <a:cubicBezTo>
                  <a:pt x="109904" y="5613"/>
                  <a:pt x="115517" y="0"/>
                  <a:pt x="122464" y="0"/>
                </a:cubicBezTo>
                <a:lnTo>
                  <a:pt x="131885" y="0"/>
                </a:lnTo>
                <a:cubicBezTo>
                  <a:pt x="144013" y="0"/>
                  <a:pt x="153865" y="9852"/>
                  <a:pt x="153865" y="2198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66444" y="2914022"/>
            <a:ext cx="420356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66444" y="3215473"/>
            <a:ext cx="418681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Problem-solving and design thinking</a:t>
            </a:r>
            <a:r>
              <a:rPr lang="en-US" sz="105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approach to overcome technical challenges. Iterative refinement and creative solution development.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2576" y="3952352"/>
            <a:ext cx="5091165" cy="2721429"/>
          </a:xfrm>
          <a:custGeom>
            <a:avLst/>
            <a:gdLst/>
            <a:ahLst/>
            <a:cxnLst/>
            <a:rect l="l" t="t" r="r" b="b"/>
            <a:pathLst>
              <a:path w="5091165" h="2721429">
                <a:moveTo>
                  <a:pt x="67002" y="0"/>
                </a:moveTo>
                <a:lnTo>
                  <a:pt x="5024163" y="0"/>
                </a:lnTo>
                <a:cubicBezTo>
                  <a:pt x="5061167" y="0"/>
                  <a:pt x="5091165" y="29998"/>
                  <a:pt x="5091165" y="67002"/>
                </a:cubicBezTo>
                <a:lnTo>
                  <a:pt x="5091165" y="2654427"/>
                </a:lnTo>
                <a:cubicBezTo>
                  <a:pt x="5091165" y="2691431"/>
                  <a:pt x="5061167" y="2721429"/>
                  <a:pt x="5024163" y="2721429"/>
                </a:cubicBezTo>
                <a:lnTo>
                  <a:pt x="67002" y="2721429"/>
                </a:lnTo>
                <a:cubicBezTo>
                  <a:pt x="29998" y="2721429"/>
                  <a:pt x="0" y="2691431"/>
                  <a:pt x="0" y="2654427"/>
                </a:cubicBezTo>
                <a:lnTo>
                  <a:pt x="0" y="67002"/>
                </a:lnTo>
                <a:cubicBezTo>
                  <a:pt x="0" y="30022"/>
                  <a:pt x="30022" y="0"/>
                  <a:pt x="670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0" descr="https://kimi-web-img.moonshot.cn/img/blog.cadalyst.com/2d59f0fe3ccde201b4059d58bc3154acf668f213.jpg"/>
          <p:cNvPicPr>
            <a:picLocks noChangeAspect="1"/>
          </p:cNvPicPr>
          <p:nvPr/>
        </p:nvPicPr>
        <p:blipFill>
          <a:blip r:embed="rId3"/>
          <a:srcRect l="10904" r="10904"/>
          <a:stretch/>
        </p:blipFill>
        <p:spPr>
          <a:xfrm>
            <a:off x="6762576" y="3952352"/>
            <a:ext cx="5091165" cy="2721429"/>
          </a:xfrm>
          <a:prstGeom prst="roundRect">
            <a:avLst>
              <a:gd name="adj" fmla="val 2462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337736" y="6807757"/>
            <a:ext cx="11519319" cy="474505"/>
          </a:xfrm>
          <a:custGeom>
            <a:avLst/>
            <a:gdLst/>
            <a:ahLst/>
            <a:cxnLst/>
            <a:rect l="l" t="t" r="r" b="b"/>
            <a:pathLst>
              <a:path w="11519319" h="474505">
                <a:moveTo>
                  <a:pt x="66991" y="0"/>
                </a:moveTo>
                <a:lnTo>
                  <a:pt x="11452328" y="0"/>
                </a:lnTo>
                <a:cubicBezTo>
                  <a:pt x="11489326" y="0"/>
                  <a:pt x="11519319" y="29993"/>
                  <a:pt x="11519319" y="66991"/>
                </a:cubicBezTo>
                <a:lnTo>
                  <a:pt x="11519319" y="407515"/>
                </a:lnTo>
                <a:cubicBezTo>
                  <a:pt x="11519319" y="444513"/>
                  <a:pt x="11489326" y="474505"/>
                  <a:pt x="11452328" y="474505"/>
                </a:cubicBezTo>
                <a:lnTo>
                  <a:pt x="66991" y="474505"/>
                </a:lnTo>
                <a:cubicBezTo>
                  <a:pt x="30018" y="474505"/>
                  <a:pt x="0" y="444488"/>
                  <a:pt x="0" y="407515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99626" y="6944525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25121" y="25121"/>
                </a:moveTo>
                <a:cubicBezTo>
                  <a:pt x="25121" y="18173"/>
                  <a:pt x="19508" y="12560"/>
                  <a:pt x="12560" y="12560"/>
                </a:cubicBezTo>
                <a:cubicBezTo>
                  <a:pt x="5613" y="12560"/>
                  <a:pt x="0" y="18173"/>
                  <a:pt x="0" y="25121"/>
                </a:cubicBezTo>
                <a:lnTo>
                  <a:pt x="0" y="157005"/>
                </a:lnTo>
                <a:cubicBezTo>
                  <a:pt x="0" y="174355"/>
                  <a:pt x="14052" y="188407"/>
                  <a:pt x="31401" y="188407"/>
                </a:cubicBezTo>
                <a:lnTo>
                  <a:pt x="188407" y="188407"/>
                </a:lnTo>
                <a:cubicBezTo>
                  <a:pt x="195354" y="188407"/>
                  <a:pt x="200967" y="182794"/>
                  <a:pt x="200967" y="175846"/>
                </a:cubicBezTo>
                <a:cubicBezTo>
                  <a:pt x="200967" y="168899"/>
                  <a:pt x="195354" y="163286"/>
                  <a:pt x="188407" y="163286"/>
                </a:cubicBezTo>
                <a:lnTo>
                  <a:pt x="31401" y="163286"/>
                </a:lnTo>
                <a:cubicBezTo>
                  <a:pt x="27947" y="163286"/>
                  <a:pt x="25121" y="160460"/>
                  <a:pt x="25121" y="157005"/>
                </a:cubicBezTo>
                <a:lnTo>
                  <a:pt x="25121" y="25121"/>
                </a:lnTo>
                <a:close/>
                <a:moveTo>
                  <a:pt x="184717" y="59113"/>
                </a:moveTo>
                <a:cubicBezTo>
                  <a:pt x="189623" y="54206"/>
                  <a:pt x="189623" y="46238"/>
                  <a:pt x="184717" y="41332"/>
                </a:cubicBezTo>
                <a:cubicBezTo>
                  <a:pt x="179811" y="36425"/>
                  <a:pt x="171843" y="36425"/>
                  <a:pt x="166936" y="41332"/>
                </a:cubicBezTo>
                <a:lnTo>
                  <a:pt x="125604" y="82703"/>
                </a:lnTo>
                <a:lnTo>
                  <a:pt x="103074" y="60212"/>
                </a:lnTo>
                <a:cubicBezTo>
                  <a:pt x="98168" y="55305"/>
                  <a:pt x="90200" y="55305"/>
                  <a:pt x="85293" y="60212"/>
                </a:cubicBezTo>
                <a:lnTo>
                  <a:pt x="47612" y="97893"/>
                </a:lnTo>
                <a:cubicBezTo>
                  <a:pt x="42705" y="102799"/>
                  <a:pt x="42705" y="110767"/>
                  <a:pt x="47612" y="115674"/>
                </a:cubicBezTo>
                <a:cubicBezTo>
                  <a:pt x="52518" y="120580"/>
                  <a:pt x="60486" y="120580"/>
                  <a:pt x="65393" y="115674"/>
                </a:cubicBezTo>
                <a:lnTo>
                  <a:pt x="94203" y="86863"/>
                </a:lnTo>
                <a:lnTo>
                  <a:pt x="116734" y="109394"/>
                </a:lnTo>
                <a:cubicBezTo>
                  <a:pt x="121640" y="114300"/>
                  <a:pt x="129608" y="114300"/>
                  <a:pt x="134514" y="109394"/>
                </a:cubicBezTo>
                <a:lnTo>
                  <a:pt x="184756" y="5915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59692" y="6944525"/>
            <a:ext cx="920261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Development:</a:t>
            </a:r>
            <a:r>
              <a:rPr lang="en-US" sz="1055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project provided hands-on experience with industry-relevant tools and methodologies essential for mechanical engineering practice.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444500" cy="31750"/>
          </a:xfrm>
          <a:custGeom>
            <a:avLst/>
            <a:gdLst/>
            <a:ahLst/>
            <a:cxnLst/>
            <a:rect l="l" t="t" r="r" b="b"/>
            <a:pathLst>
              <a:path w="444500" h="31750">
                <a:moveTo>
                  <a:pt x="0" y="0"/>
                </a:moveTo>
                <a:lnTo>
                  <a:pt x="444500" y="0"/>
                </a:lnTo>
                <a:lnTo>
                  <a:pt x="4445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250" y="31750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047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key competencies gained through project completion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5438" y="1404938"/>
            <a:ext cx="5683250" cy="2674938"/>
          </a:xfrm>
          <a:custGeom>
            <a:avLst/>
            <a:gdLst/>
            <a:ahLst/>
            <a:cxnLst/>
            <a:rect l="l" t="t" r="r" b="b"/>
            <a:pathLst>
              <a:path w="5683250" h="2674938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2611434"/>
                </a:lnTo>
                <a:cubicBezTo>
                  <a:pt x="5683250" y="2646506"/>
                  <a:pt x="5654819" y="2674938"/>
                  <a:pt x="5619747" y="2674937"/>
                </a:cubicBezTo>
                <a:lnTo>
                  <a:pt x="63503" y="2674938"/>
                </a:lnTo>
                <a:cubicBezTo>
                  <a:pt x="28431" y="2674937"/>
                  <a:pt x="0" y="2646506"/>
                  <a:pt x="0" y="2611434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254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3875" y="160337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5914" y="173831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2324" y="91064"/>
                </a:moveTo>
                <a:lnTo>
                  <a:pt x="119621" y="131108"/>
                </a:lnTo>
                <a:cubicBezTo>
                  <a:pt x="124178" y="132969"/>
                  <a:pt x="129015" y="133945"/>
                  <a:pt x="133945" y="133945"/>
                </a:cubicBezTo>
                <a:cubicBezTo>
                  <a:pt x="138875" y="133945"/>
                  <a:pt x="143712" y="132969"/>
                  <a:pt x="148270" y="131108"/>
                </a:cubicBezTo>
                <a:lnTo>
                  <a:pt x="261007" y="84693"/>
                </a:lnTo>
                <a:cubicBezTo>
                  <a:pt x="265193" y="82972"/>
                  <a:pt x="267891" y="78925"/>
                  <a:pt x="267891" y="74414"/>
                </a:cubicBezTo>
                <a:cubicBezTo>
                  <a:pt x="267891" y="69903"/>
                  <a:pt x="265193" y="65856"/>
                  <a:pt x="261007" y="64136"/>
                </a:cubicBezTo>
                <a:lnTo>
                  <a:pt x="148270" y="17720"/>
                </a:lnTo>
                <a:cubicBezTo>
                  <a:pt x="143712" y="15859"/>
                  <a:pt x="138875" y="14883"/>
                  <a:pt x="133945" y="14883"/>
                </a:cubicBezTo>
                <a:cubicBezTo>
                  <a:pt x="129015" y="14883"/>
                  <a:pt x="124178" y="15859"/>
                  <a:pt x="119621" y="17720"/>
                </a:cubicBezTo>
                <a:lnTo>
                  <a:pt x="6883" y="64136"/>
                </a:lnTo>
                <a:cubicBezTo>
                  <a:pt x="2698" y="65856"/>
                  <a:pt x="0" y="69903"/>
                  <a:pt x="0" y="74414"/>
                </a:cubicBezTo>
                <a:lnTo>
                  <a:pt x="0" y="212080"/>
                </a:lnTo>
                <a:cubicBezTo>
                  <a:pt x="0" y="218266"/>
                  <a:pt x="4976" y="223242"/>
                  <a:pt x="11162" y="223242"/>
                </a:cubicBezTo>
                <a:cubicBezTo>
                  <a:pt x="17348" y="223242"/>
                  <a:pt x="22324" y="218266"/>
                  <a:pt x="22324" y="212080"/>
                </a:cubicBezTo>
                <a:lnTo>
                  <a:pt x="22324" y="91064"/>
                </a:lnTo>
                <a:close/>
                <a:moveTo>
                  <a:pt x="44648" y="124411"/>
                </a:moveTo>
                <a:lnTo>
                  <a:pt x="44648" y="178594"/>
                </a:lnTo>
                <a:cubicBezTo>
                  <a:pt x="44648" y="203243"/>
                  <a:pt x="84646" y="223242"/>
                  <a:pt x="133945" y="223242"/>
                </a:cubicBezTo>
                <a:cubicBezTo>
                  <a:pt x="183245" y="223242"/>
                  <a:pt x="223242" y="203243"/>
                  <a:pt x="223242" y="178594"/>
                </a:cubicBezTo>
                <a:lnTo>
                  <a:pt x="223242" y="124365"/>
                </a:lnTo>
                <a:lnTo>
                  <a:pt x="156781" y="151758"/>
                </a:lnTo>
                <a:cubicBezTo>
                  <a:pt x="149526" y="154735"/>
                  <a:pt x="141805" y="156270"/>
                  <a:pt x="133945" y="156270"/>
                </a:cubicBezTo>
                <a:cubicBezTo>
                  <a:pt x="126085" y="156270"/>
                  <a:pt x="118365" y="154735"/>
                  <a:pt x="111109" y="151758"/>
                </a:cubicBezTo>
                <a:lnTo>
                  <a:pt x="44648" y="12436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58875" y="1698625"/>
            <a:ext cx="2452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Shaft Design Understanding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3875" y="2238375"/>
            <a:ext cx="535781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understanding of shaft design and support structures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practical application. Grasping the relationship between geometry, material selection, and functional performance in power transmission systems.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3875" y="3557568"/>
            <a:ext cx="5286375" cy="5292"/>
          </a:xfrm>
          <a:custGeom>
            <a:avLst/>
            <a:gdLst/>
            <a:ahLst/>
            <a:cxnLst/>
            <a:rect l="l" t="t" r="r" b="b"/>
            <a:pathLst>
              <a:path w="5286375" h="5292">
                <a:moveTo>
                  <a:pt x="0" y="0"/>
                </a:moveTo>
                <a:lnTo>
                  <a:pt x="5286375" y="0"/>
                </a:lnTo>
                <a:lnTo>
                  <a:pt x="528637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5625" y="371896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6125" y="3687217"/>
            <a:ext cx="188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competency achieved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3313" y="1404938"/>
            <a:ext cx="5683250" cy="2674938"/>
          </a:xfrm>
          <a:custGeom>
            <a:avLst/>
            <a:gdLst/>
            <a:ahLst/>
            <a:cxnLst/>
            <a:rect l="l" t="t" r="r" b="b"/>
            <a:pathLst>
              <a:path w="5683250" h="2674938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2611434"/>
                </a:lnTo>
                <a:cubicBezTo>
                  <a:pt x="5683250" y="2646506"/>
                  <a:pt x="5654819" y="2674938"/>
                  <a:pt x="5619747" y="2674937"/>
                </a:cubicBezTo>
                <a:lnTo>
                  <a:pt x="63503" y="2674938"/>
                </a:lnTo>
                <a:cubicBezTo>
                  <a:pt x="28431" y="2674937"/>
                  <a:pt x="0" y="2646506"/>
                  <a:pt x="0" y="2611434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254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1750" y="160337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8672" y="173831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70042"/>
                </a:moveTo>
                <a:lnTo>
                  <a:pt x="189105" y="114691"/>
                </a:lnTo>
                <a:cubicBezTo>
                  <a:pt x="184826" y="118969"/>
                  <a:pt x="178454" y="120225"/>
                  <a:pt x="172873" y="117900"/>
                </a:cubicBezTo>
                <a:cubicBezTo>
                  <a:pt x="167292" y="115574"/>
                  <a:pt x="163711" y="110179"/>
                  <a:pt x="163711" y="104180"/>
                </a:cubicBezTo>
                <a:lnTo>
                  <a:pt x="163711" y="74414"/>
                </a:lnTo>
                <a:lnTo>
                  <a:pt x="14883" y="74414"/>
                </a:lnTo>
                <a:cubicBezTo>
                  <a:pt x="6651" y="74414"/>
                  <a:pt x="0" y="67763"/>
                  <a:pt x="0" y="59531"/>
                </a:cubicBezTo>
                <a:cubicBezTo>
                  <a:pt x="0" y="51299"/>
                  <a:pt x="6651" y="44648"/>
                  <a:pt x="14883" y="44648"/>
                </a:cubicBezTo>
                <a:lnTo>
                  <a:pt x="163711" y="44648"/>
                </a:lnTo>
                <a:lnTo>
                  <a:pt x="163711" y="14883"/>
                </a:lnTo>
                <a:cubicBezTo>
                  <a:pt x="163711" y="8883"/>
                  <a:pt x="167339" y="3442"/>
                  <a:pt x="172920" y="1116"/>
                </a:cubicBezTo>
                <a:cubicBezTo>
                  <a:pt x="178501" y="-1209"/>
                  <a:pt x="184872" y="93"/>
                  <a:pt x="189151" y="4325"/>
                </a:cubicBezTo>
                <a:lnTo>
                  <a:pt x="233800" y="48974"/>
                </a:lnTo>
                <a:cubicBezTo>
                  <a:pt x="239613" y="54787"/>
                  <a:pt x="239613" y="64229"/>
                  <a:pt x="233800" y="70042"/>
                </a:cubicBezTo>
                <a:close/>
                <a:moveTo>
                  <a:pt x="48974" y="233753"/>
                </a:moveTo>
                <a:lnTo>
                  <a:pt x="4325" y="189105"/>
                </a:lnTo>
                <a:cubicBezTo>
                  <a:pt x="-1488" y="183291"/>
                  <a:pt x="-1488" y="173850"/>
                  <a:pt x="4325" y="168036"/>
                </a:cubicBezTo>
                <a:lnTo>
                  <a:pt x="48974" y="123388"/>
                </a:lnTo>
                <a:cubicBezTo>
                  <a:pt x="53253" y="119109"/>
                  <a:pt x="59624" y="117853"/>
                  <a:pt x="65205" y="120179"/>
                </a:cubicBezTo>
                <a:cubicBezTo>
                  <a:pt x="70786" y="122504"/>
                  <a:pt x="74414" y="127946"/>
                  <a:pt x="74414" y="133945"/>
                </a:cubicBezTo>
                <a:lnTo>
                  <a:pt x="74414" y="163711"/>
                </a:lnTo>
                <a:lnTo>
                  <a:pt x="223242" y="163711"/>
                </a:lnTo>
                <a:cubicBezTo>
                  <a:pt x="231474" y="163711"/>
                  <a:pt x="238125" y="170362"/>
                  <a:pt x="238125" y="178594"/>
                </a:cubicBezTo>
                <a:cubicBezTo>
                  <a:pt x="238125" y="186826"/>
                  <a:pt x="231474" y="193477"/>
                  <a:pt x="223242" y="193477"/>
                </a:cubicBezTo>
                <a:lnTo>
                  <a:pt x="74414" y="193477"/>
                </a:lnTo>
                <a:lnTo>
                  <a:pt x="74414" y="223242"/>
                </a:lnTo>
                <a:cubicBezTo>
                  <a:pt x="74414" y="229242"/>
                  <a:pt x="70786" y="234683"/>
                  <a:pt x="65205" y="237009"/>
                </a:cubicBezTo>
                <a:cubicBezTo>
                  <a:pt x="59624" y="239334"/>
                  <a:pt x="53253" y="238032"/>
                  <a:pt x="48974" y="2338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16750" y="1698625"/>
            <a:ext cx="2381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2D-to-3D Conversion Skills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1750" y="2238375"/>
            <a:ext cx="535781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ability to convert two-dimensional drawings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accurate three-dimensional models. Developing spatial reasoning and technical interpretation skills essential for design engineers.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81750" y="3557568"/>
            <a:ext cx="5286375" cy="5292"/>
          </a:xfrm>
          <a:custGeom>
            <a:avLst/>
            <a:gdLst/>
            <a:ahLst/>
            <a:cxnLst/>
            <a:rect l="l" t="t" r="r" b="b"/>
            <a:pathLst>
              <a:path w="5286375" h="5292">
                <a:moveTo>
                  <a:pt x="0" y="0"/>
                </a:moveTo>
                <a:lnTo>
                  <a:pt x="5286375" y="0"/>
                </a:lnTo>
                <a:lnTo>
                  <a:pt x="528637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13500" y="371896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04000" y="3687217"/>
            <a:ext cx="173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visualization enhanced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5438" y="4250779"/>
            <a:ext cx="5683250" cy="2674938"/>
          </a:xfrm>
          <a:custGeom>
            <a:avLst/>
            <a:gdLst/>
            <a:ahLst/>
            <a:cxnLst/>
            <a:rect l="l" t="t" r="r" b="b"/>
            <a:pathLst>
              <a:path w="5683250" h="2674938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2611434"/>
                </a:lnTo>
                <a:cubicBezTo>
                  <a:pt x="5683250" y="2646506"/>
                  <a:pt x="5654819" y="2674938"/>
                  <a:pt x="5619747" y="2674937"/>
                </a:cubicBezTo>
                <a:lnTo>
                  <a:pt x="63503" y="2674938"/>
                </a:lnTo>
                <a:cubicBezTo>
                  <a:pt x="28431" y="2674937"/>
                  <a:pt x="0" y="2646506"/>
                  <a:pt x="0" y="2611434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254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3875" y="444921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0797" y="4584154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14883"/>
                </a:moveTo>
                <a:cubicBezTo>
                  <a:pt x="6651" y="14883"/>
                  <a:pt x="0" y="21534"/>
                  <a:pt x="0" y="29766"/>
                </a:cubicBezTo>
                <a:lnTo>
                  <a:pt x="0" y="200918"/>
                </a:lnTo>
                <a:cubicBezTo>
                  <a:pt x="0" y="213243"/>
                  <a:pt x="9999" y="223242"/>
                  <a:pt x="22324" y="223242"/>
                </a:cubicBezTo>
                <a:lnTo>
                  <a:pt x="215801" y="223242"/>
                </a:lnTo>
                <a:cubicBezTo>
                  <a:pt x="228126" y="223242"/>
                  <a:pt x="238125" y="213243"/>
                  <a:pt x="238125" y="200918"/>
                </a:cubicBezTo>
                <a:lnTo>
                  <a:pt x="238125" y="70786"/>
                </a:lnTo>
                <a:cubicBezTo>
                  <a:pt x="238125" y="62322"/>
                  <a:pt x="229102" y="56973"/>
                  <a:pt x="221661" y="60973"/>
                </a:cubicBezTo>
                <a:lnTo>
                  <a:pt x="148828" y="100180"/>
                </a:lnTo>
                <a:lnTo>
                  <a:pt x="148828" y="70786"/>
                </a:lnTo>
                <a:cubicBezTo>
                  <a:pt x="148828" y="62322"/>
                  <a:pt x="139805" y="56973"/>
                  <a:pt x="132364" y="60973"/>
                </a:cubicBezTo>
                <a:lnTo>
                  <a:pt x="59531" y="100180"/>
                </a:lnTo>
                <a:lnTo>
                  <a:pt x="59531" y="29766"/>
                </a:lnTo>
                <a:cubicBezTo>
                  <a:pt x="59531" y="21534"/>
                  <a:pt x="52880" y="14883"/>
                  <a:pt x="44648" y="14883"/>
                </a:cubicBezTo>
                <a:lnTo>
                  <a:pt x="14883" y="14883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58875" y="4544467"/>
            <a:ext cx="250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Design Exposure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3875" y="5084217"/>
            <a:ext cx="535781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exposure to real-world mechanical design practices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including industry standards, manufacturing constraints, and quality requirements. Understanding the complete design-to-production workflow.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3875" y="6403410"/>
            <a:ext cx="5286375" cy="5292"/>
          </a:xfrm>
          <a:custGeom>
            <a:avLst/>
            <a:gdLst/>
            <a:ahLst/>
            <a:cxnLst/>
            <a:rect l="l" t="t" r="r" b="b"/>
            <a:pathLst>
              <a:path w="5286375" h="5292">
                <a:moveTo>
                  <a:pt x="0" y="0"/>
                </a:moveTo>
                <a:lnTo>
                  <a:pt x="5286375" y="0"/>
                </a:lnTo>
                <a:lnTo>
                  <a:pt x="528637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5625" y="656480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6125" y="6533059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readiness improved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3313" y="4250779"/>
            <a:ext cx="5683250" cy="2674938"/>
          </a:xfrm>
          <a:custGeom>
            <a:avLst/>
            <a:gdLst/>
            <a:ahLst/>
            <a:cxnLst/>
            <a:rect l="l" t="t" r="r" b="b"/>
            <a:pathLst>
              <a:path w="5683250" h="2674938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2611434"/>
                </a:lnTo>
                <a:cubicBezTo>
                  <a:pt x="5683250" y="2646506"/>
                  <a:pt x="5654819" y="2674938"/>
                  <a:pt x="5619747" y="2674937"/>
                </a:cubicBezTo>
                <a:lnTo>
                  <a:pt x="63503" y="2674938"/>
                </a:lnTo>
                <a:cubicBezTo>
                  <a:pt x="28431" y="2674937"/>
                  <a:pt x="0" y="2646506"/>
                  <a:pt x="0" y="2611434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2700000" scaled="1"/>
          </a:gradFill>
          <a:ln w="254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81750" y="444921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18672" y="4584154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16750" y="4544467"/>
            <a:ext cx="1500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 Confidence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1750" y="5084217"/>
            <a:ext cx="535781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Increased confidence in CAD-based modeling</a:t>
            </a:r>
            <a:r>
              <a:rPr lang="en-US" sz="1125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repeated application of modeling techniques. Building proficiency in feature creation, assembly management, and design validation.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1750" y="6403410"/>
            <a:ext cx="5286375" cy="5292"/>
          </a:xfrm>
          <a:custGeom>
            <a:avLst/>
            <a:gdLst/>
            <a:ahLst/>
            <a:cxnLst/>
            <a:rect l="l" t="t" r="r" b="b"/>
            <a:pathLst>
              <a:path w="5286375" h="5292">
                <a:moveTo>
                  <a:pt x="0" y="0"/>
                </a:moveTo>
                <a:lnTo>
                  <a:pt x="5286375" y="0"/>
                </a:lnTo>
                <a:lnTo>
                  <a:pt x="5286375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13500" y="656480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04000" y="653305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proficiency gained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0146" y="7059579"/>
            <a:ext cx="11554354" cy="449792"/>
          </a:xfrm>
          <a:custGeom>
            <a:avLst/>
            <a:gdLst/>
            <a:ahLst/>
            <a:cxnLst/>
            <a:rect l="l" t="t" r="r" b="b"/>
            <a:pathLst>
              <a:path w="11554354" h="449792">
                <a:moveTo>
                  <a:pt x="63502" y="0"/>
                </a:moveTo>
                <a:lnTo>
                  <a:pt x="11490853" y="0"/>
                </a:lnTo>
                <a:cubicBezTo>
                  <a:pt x="11525924" y="0"/>
                  <a:pt x="11554354" y="28431"/>
                  <a:pt x="11554354" y="63502"/>
                </a:cubicBezTo>
                <a:lnTo>
                  <a:pt x="11554354" y="386290"/>
                </a:lnTo>
                <a:cubicBezTo>
                  <a:pt x="11554354" y="421361"/>
                  <a:pt x="11525924" y="449792"/>
                  <a:pt x="11490853" y="449792"/>
                </a:cubicBezTo>
                <a:lnTo>
                  <a:pt x="63502" y="449792"/>
                </a:lnTo>
                <a:cubicBezTo>
                  <a:pt x="28431" y="449792"/>
                  <a:pt x="0" y="421361"/>
                  <a:pt x="0" y="386290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3604" y="71892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4917" y="7189228"/>
            <a:ext cx="919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Growth:</a:t>
            </a:r>
            <a:r>
              <a:rPr lang="en-US" sz="10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outcomes represent significant advancement in mechanical design competency, preparing for more complex engineering challenges.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55" y="405319"/>
            <a:ext cx="453957" cy="32426"/>
          </a:xfrm>
          <a:custGeom>
            <a:avLst/>
            <a:gdLst/>
            <a:ahLst/>
            <a:cxnLst/>
            <a:rect l="l" t="t" r="r" b="b"/>
            <a:pathLst>
              <a:path w="453957" h="32426">
                <a:moveTo>
                  <a:pt x="0" y="0"/>
                </a:moveTo>
                <a:lnTo>
                  <a:pt x="453957" y="0"/>
                </a:lnTo>
                <a:lnTo>
                  <a:pt x="453957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5489" y="324255"/>
            <a:ext cx="93223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kern="0" spc="102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4255" y="616085"/>
            <a:ext cx="2115766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66522" y="421532"/>
            <a:ext cx="843064" cy="4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30" b="1" dirty="0">
                <a:solidFill>
                  <a:srgbClr val="4A5C6A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468" y="1134894"/>
            <a:ext cx="6225702" cy="1459149"/>
          </a:xfrm>
          <a:custGeom>
            <a:avLst/>
            <a:gdLst/>
            <a:ahLst/>
            <a:cxnLst/>
            <a:rect l="l" t="t" r="r" b="b"/>
            <a:pathLst>
              <a:path w="6225702" h="1459149">
                <a:moveTo>
                  <a:pt x="32426" y="0"/>
                </a:moveTo>
                <a:lnTo>
                  <a:pt x="6160858" y="0"/>
                </a:lnTo>
                <a:cubicBezTo>
                  <a:pt x="6196670" y="0"/>
                  <a:pt x="6225702" y="29032"/>
                  <a:pt x="6225702" y="64845"/>
                </a:cubicBezTo>
                <a:lnTo>
                  <a:pt x="6225702" y="1394304"/>
                </a:lnTo>
                <a:cubicBezTo>
                  <a:pt x="6225702" y="1430117"/>
                  <a:pt x="6196670" y="1459149"/>
                  <a:pt x="6160858" y="1459149"/>
                </a:cubicBezTo>
                <a:lnTo>
                  <a:pt x="32426" y="1459149"/>
                </a:lnTo>
                <a:cubicBezTo>
                  <a:pt x="14517" y="1459149"/>
                  <a:pt x="0" y="1444632"/>
                  <a:pt x="0" y="142672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0468" y="1134894"/>
            <a:ext cx="32426" cy="1459149"/>
          </a:xfrm>
          <a:custGeom>
            <a:avLst/>
            <a:gdLst/>
            <a:ahLst/>
            <a:cxnLst/>
            <a:rect l="l" t="t" r="r" b="b"/>
            <a:pathLst>
              <a:path w="32426" h="1459149">
                <a:moveTo>
                  <a:pt x="32426" y="0"/>
                </a:moveTo>
                <a:lnTo>
                  <a:pt x="32426" y="0"/>
                </a:lnTo>
                <a:lnTo>
                  <a:pt x="32426" y="1459149"/>
                </a:lnTo>
                <a:lnTo>
                  <a:pt x="32426" y="1459149"/>
                </a:lnTo>
                <a:cubicBezTo>
                  <a:pt x="14517" y="1459149"/>
                  <a:pt x="0" y="1444632"/>
                  <a:pt x="0" y="142672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1234" y="132944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5870" y="1467255"/>
            <a:ext cx="273590" cy="243191"/>
          </a:xfrm>
          <a:custGeom>
            <a:avLst/>
            <a:gdLst/>
            <a:ahLst/>
            <a:cxnLst/>
            <a:rect l="l" t="t" r="r" b="b"/>
            <a:pathLst>
              <a:path w="273590" h="243191">
                <a:moveTo>
                  <a:pt x="147007" y="-8977"/>
                </a:moveTo>
                <a:cubicBezTo>
                  <a:pt x="145060" y="-12777"/>
                  <a:pt x="141118" y="-15199"/>
                  <a:pt x="136843" y="-15199"/>
                </a:cubicBezTo>
                <a:cubicBezTo>
                  <a:pt x="132568" y="-15199"/>
                  <a:pt x="128625" y="-12777"/>
                  <a:pt x="126678" y="-8977"/>
                </a:cubicBezTo>
                <a:lnTo>
                  <a:pt x="91719" y="59515"/>
                </a:lnTo>
                <a:lnTo>
                  <a:pt x="15769" y="71580"/>
                </a:lnTo>
                <a:cubicBezTo>
                  <a:pt x="11542" y="72245"/>
                  <a:pt x="8027" y="75237"/>
                  <a:pt x="6697" y="79322"/>
                </a:cubicBezTo>
                <a:cubicBezTo>
                  <a:pt x="5367" y="83407"/>
                  <a:pt x="6460" y="87872"/>
                  <a:pt x="9452" y="90912"/>
                </a:cubicBezTo>
                <a:lnTo>
                  <a:pt x="63790" y="145297"/>
                </a:lnTo>
                <a:lnTo>
                  <a:pt x="51821" y="221247"/>
                </a:lnTo>
                <a:cubicBezTo>
                  <a:pt x="51156" y="225475"/>
                  <a:pt x="52913" y="229749"/>
                  <a:pt x="56381" y="232267"/>
                </a:cubicBezTo>
                <a:cubicBezTo>
                  <a:pt x="59848" y="234784"/>
                  <a:pt x="64408" y="235164"/>
                  <a:pt x="68255" y="233217"/>
                </a:cubicBezTo>
                <a:lnTo>
                  <a:pt x="136843" y="198353"/>
                </a:lnTo>
                <a:lnTo>
                  <a:pt x="205383" y="233217"/>
                </a:lnTo>
                <a:cubicBezTo>
                  <a:pt x="209183" y="235164"/>
                  <a:pt x="213790" y="234784"/>
                  <a:pt x="217257" y="232267"/>
                </a:cubicBezTo>
                <a:cubicBezTo>
                  <a:pt x="220725" y="229749"/>
                  <a:pt x="222482" y="225522"/>
                  <a:pt x="221817" y="221247"/>
                </a:cubicBezTo>
                <a:lnTo>
                  <a:pt x="209800" y="145297"/>
                </a:lnTo>
                <a:lnTo>
                  <a:pt x="264138" y="90912"/>
                </a:lnTo>
                <a:cubicBezTo>
                  <a:pt x="267178" y="87872"/>
                  <a:pt x="268223" y="83407"/>
                  <a:pt x="266893" y="79322"/>
                </a:cubicBezTo>
                <a:cubicBezTo>
                  <a:pt x="265563" y="75237"/>
                  <a:pt x="262096" y="72245"/>
                  <a:pt x="257821" y="71580"/>
                </a:cubicBezTo>
                <a:lnTo>
                  <a:pt x="181919" y="59515"/>
                </a:lnTo>
                <a:lnTo>
                  <a:pt x="147007" y="-8977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2170" y="1329447"/>
            <a:ext cx="523672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Learning Experience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2170" y="1686128"/>
            <a:ext cx="5212404" cy="71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served as a </a:t>
            </a:r>
            <a:r>
              <a:rPr lang="en-US" sz="1149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learning experience in mechanical design and CAD modeling</a:t>
            </a:r>
            <a:r>
              <a:rPr lang="en-US" sz="114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hands-on approach provided invaluable insights into the practical challenges and solutions inherent in engineering design work.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0468" y="3259193"/>
            <a:ext cx="6225702" cy="1459149"/>
          </a:xfrm>
          <a:custGeom>
            <a:avLst/>
            <a:gdLst/>
            <a:ahLst/>
            <a:cxnLst/>
            <a:rect l="l" t="t" r="r" b="b"/>
            <a:pathLst>
              <a:path w="6225702" h="1459149">
                <a:moveTo>
                  <a:pt x="32426" y="0"/>
                </a:moveTo>
                <a:lnTo>
                  <a:pt x="6160858" y="0"/>
                </a:lnTo>
                <a:cubicBezTo>
                  <a:pt x="6196670" y="0"/>
                  <a:pt x="6225702" y="29032"/>
                  <a:pt x="6225702" y="64845"/>
                </a:cubicBezTo>
                <a:lnTo>
                  <a:pt x="6225702" y="1394304"/>
                </a:lnTo>
                <a:cubicBezTo>
                  <a:pt x="6225702" y="1430117"/>
                  <a:pt x="6196670" y="1459149"/>
                  <a:pt x="6160858" y="1459149"/>
                </a:cubicBezTo>
                <a:lnTo>
                  <a:pt x="32426" y="1459149"/>
                </a:lnTo>
                <a:cubicBezTo>
                  <a:pt x="14517" y="1459149"/>
                  <a:pt x="0" y="1444632"/>
                  <a:pt x="0" y="142672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468" y="3259193"/>
            <a:ext cx="32426" cy="1459149"/>
          </a:xfrm>
          <a:custGeom>
            <a:avLst/>
            <a:gdLst/>
            <a:ahLst/>
            <a:cxnLst/>
            <a:rect l="l" t="t" r="r" b="b"/>
            <a:pathLst>
              <a:path w="32426" h="1459149">
                <a:moveTo>
                  <a:pt x="32426" y="0"/>
                </a:moveTo>
                <a:lnTo>
                  <a:pt x="32426" y="0"/>
                </a:lnTo>
                <a:lnTo>
                  <a:pt x="32426" y="1459149"/>
                </a:lnTo>
                <a:lnTo>
                  <a:pt x="32426" y="1459149"/>
                </a:lnTo>
                <a:cubicBezTo>
                  <a:pt x="14517" y="1459149"/>
                  <a:pt x="0" y="1444632"/>
                  <a:pt x="0" y="142672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1234" y="345374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1069" y="3591555"/>
            <a:ext cx="243191" cy="243191"/>
          </a:xfrm>
          <a:custGeom>
            <a:avLst/>
            <a:gdLst/>
            <a:ahLst/>
            <a:cxnLst/>
            <a:rect l="l" t="t" r="r" b="b"/>
            <a:pathLst>
              <a:path w="243191" h="243191">
                <a:moveTo>
                  <a:pt x="15199" y="15199"/>
                </a:moveTo>
                <a:cubicBezTo>
                  <a:pt x="6792" y="15199"/>
                  <a:pt x="0" y="21992"/>
                  <a:pt x="0" y="30399"/>
                </a:cubicBezTo>
                <a:cubicBezTo>
                  <a:pt x="0" y="38806"/>
                  <a:pt x="6792" y="45598"/>
                  <a:pt x="15199" y="45598"/>
                </a:cubicBezTo>
                <a:lnTo>
                  <a:pt x="18999" y="45598"/>
                </a:lnTo>
                <a:lnTo>
                  <a:pt x="18999" y="75997"/>
                </a:lnTo>
                <a:lnTo>
                  <a:pt x="0" y="75997"/>
                </a:lnTo>
                <a:lnTo>
                  <a:pt x="0" y="129195"/>
                </a:lnTo>
                <a:cubicBezTo>
                  <a:pt x="17859" y="133660"/>
                  <a:pt x="30399" y="149715"/>
                  <a:pt x="30399" y="168144"/>
                </a:cubicBezTo>
                <a:lnTo>
                  <a:pt x="30399" y="212793"/>
                </a:lnTo>
                <a:cubicBezTo>
                  <a:pt x="30399" y="221200"/>
                  <a:pt x="37191" y="227992"/>
                  <a:pt x="45598" y="227992"/>
                </a:cubicBezTo>
                <a:lnTo>
                  <a:pt x="60798" y="227992"/>
                </a:lnTo>
                <a:cubicBezTo>
                  <a:pt x="69205" y="227992"/>
                  <a:pt x="75997" y="221200"/>
                  <a:pt x="75997" y="212793"/>
                </a:cubicBezTo>
                <a:lnTo>
                  <a:pt x="75997" y="182394"/>
                </a:lnTo>
                <a:cubicBezTo>
                  <a:pt x="75997" y="157219"/>
                  <a:pt x="96422" y="136795"/>
                  <a:pt x="121596" y="136795"/>
                </a:cubicBezTo>
                <a:cubicBezTo>
                  <a:pt x="146770" y="136795"/>
                  <a:pt x="167194" y="157219"/>
                  <a:pt x="167194" y="182394"/>
                </a:cubicBezTo>
                <a:lnTo>
                  <a:pt x="167194" y="212793"/>
                </a:lnTo>
                <a:cubicBezTo>
                  <a:pt x="167194" y="221200"/>
                  <a:pt x="173986" y="227992"/>
                  <a:pt x="182394" y="227992"/>
                </a:cubicBezTo>
                <a:lnTo>
                  <a:pt x="197593" y="227992"/>
                </a:lnTo>
                <a:cubicBezTo>
                  <a:pt x="206000" y="227992"/>
                  <a:pt x="212793" y="221200"/>
                  <a:pt x="212793" y="212793"/>
                </a:cubicBezTo>
                <a:lnTo>
                  <a:pt x="212793" y="168144"/>
                </a:lnTo>
                <a:cubicBezTo>
                  <a:pt x="212793" y="149715"/>
                  <a:pt x="225332" y="133660"/>
                  <a:pt x="243191" y="129195"/>
                </a:cubicBezTo>
                <a:lnTo>
                  <a:pt x="243191" y="75997"/>
                </a:lnTo>
                <a:lnTo>
                  <a:pt x="224192" y="75997"/>
                </a:lnTo>
                <a:lnTo>
                  <a:pt x="224192" y="45598"/>
                </a:lnTo>
                <a:lnTo>
                  <a:pt x="227992" y="45598"/>
                </a:lnTo>
                <a:cubicBezTo>
                  <a:pt x="236399" y="45598"/>
                  <a:pt x="243191" y="38806"/>
                  <a:pt x="243191" y="30399"/>
                </a:cubicBezTo>
                <a:cubicBezTo>
                  <a:pt x="243191" y="21992"/>
                  <a:pt x="236399" y="15199"/>
                  <a:pt x="227992" y="15199"/>
                </a:cubicBezTo>
                <a:lnTo>
                  <a:pt x="15199" y="15199"/>
                </a:lnTo>
                <a:close/>
                <a:moveTo>
                  <a:pt x="201393" y="45598"/>
                </a:moveTo>
                <a:lnTo>
                  <a:pt x="201393" y="75997"/>
                </a:lnTo>
                <a:lnTo>
                  <a:pt x="163394" y="75997"/>
                </a:lnTo>
                <a:lnTo>
                  <a:pt x="163394" y="45598"/>
                </a:lnTo>
                <a:lnTo>
                  <a:pt x="201393" y="45598"/>
                </a:lnTo>
                <a:close/>
                <a:moveTo>
                  <a:pt x="140595" y="45598"/>
                </a:moveTo>
                <a:lnTo>
                  <a:pt x="140595" y="75997"/>
                </a:lnTo>
                <a:lnTo>
                  <a:pt x="102596" y="75997"/>
                </a:lnTo>
                <a:lnTo>
                  <a:pt x="102596" y="45598"/>
                </a:lnTo>
                <a:lnTo>
                  <a:pt x="140595" y="45598"/>
                </a:lnTo>
                <a:close/>
                <a:moveTo>
                  <a:pt x="41799" y="45598"/>
                </a:moveTo>
                <a:lnTo>
                  <a:pt x="79797" y="45598"/>
                </a:lnTo>
                <a:lnTo>
                  <a:pt x="79797" y="75997"/>
                </a:lnTo>
                <a:lnTo>
                  <a:pt x="41799" y="75997"/>
                </a:lnTo>
                <a:lnTo>
                  <a:pt x="41799" y="4559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2170" y="3453747"/>
            <a:ext cx="523672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Theory to Practice Bridge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2170" y="3810427"/>
            <a:ext cx="5212404" cy="71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</a:t>
            </a:r>
            <a:r>
              <a:rPr lang="en-US" sz="1149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bridged the gap between theoretical knowledge and practical application</a:t>
            </a:r>
            <a:r>
              <a:rPr lang="en-US" sz="114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transforming classroom concepts into tangible design solutions. This integration is essential for developing professional engineering competence.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0468" y="5383398"/>
            <a:ext cx="6225702" cy="1459149"/>
          </a:xfrm>
          <a:custGeom>
            <a:avLst/>
            <a:gdLst/>
            <a:ahLst/>
            <a:cxnLst/>
            <a:rect l="l" t="t" r="r" b="b"/>
            <a:pathLst>
              <a:path w="6225702" h="1459149">
                <a:moveTo>
                  <a:pt x="32426" y="0"/>
                </a:moveTo>
                <a:lnTo>
                  <a:pt x="6160858" y="0"/>
                </a:lnTo>
                <a:cubicBezTo>
                  <a:pt x="6196670" y="0"/>
                  <a:pt x="6225702" y="29032"/>
                  <a:pt x="6225702" y="64845"/>
                </a:cubicBezTo>
                <a:lnTo>
                  <a:pt x="6225702" y="1394304"/>
                </a:lnTo>
                <a:cubicBezTo>
                  <a:pt x="6225702" y="1430117"/>
                  <a:pt x="6196670" y="1459149"/>
                  <a:pt x="6160858" y="1459149"/>
                </a:cubicBezTo>
                <a:lnTo>
                  <a:pt x="32426" y="1459149"/>
                </a:lnTo>
                <a:cubicBezTo>
                  <a:pt x="14517" y="1459149"/>
                  <a:pt x="0" y="1444632"/>
                  <a:pt x="0" y="142672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0468" y="5383398"/>
            <a:ext cx="32426" cy="1459149"/>
          </a:xfrm>
          <a:custGeom>
            <a:avLst/>
            <a:gdLst/>
            <a:ahLst/>
            <a:cxnLst/>
            <a:rect l="l" t="t" r="r" b="b"/>
            <a:pathLst>
              <a:path w="32426" h="1459149">
                <a:moveTo>
                  <a:pt x="32426" y="0"/>
                </a:moveTo>
                <a:lnTo>
                  <a:pt x="32426" y="0"/>
                </a:lnTo>
                <a:lnTo>
                  <a:pt x="32426" y="1459149"/>
                </a:lnTo>
                <a:lnTo>
                  <a:pt x="32426" y="1459149"/>
                </a:lnTo>
                <a:cubicBezTo>
                  <a:pt x="14517" y="1459149"/>
                  <a:pt x="0" y="1444632"/>
                  <a:pt x="0" y="142672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1234" y="5577951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1069" y="5715760"/>
            <a:ext cx="243191" cy="243191"/>
          </a:xfrm>
          <a:custGeom>
            <a:avLst/>
            <a:gdLst/>
            <a:ahLst/>
            <a:cxnLst/>
            <a:rect l="l" t="t" r="r" b="b"/>
            <a:pathLst>
              <a:path w="243191" h="243191">
                <a:moveTo>
                  <a:pt x="60798" y="151995"/>
                </a:moveTo>
                <a:lnTo>
                  <a:pt x="11637" y="151995"/>
                </a:lnTo>
                <a:cubicBezTo>
                  <a:pt x="-190" y="151995"/>
                  <a:pt x="-7457" y="139123"/>
                  <a:pt x="-1377" y="128958"/>
                </a:cubicBezTo>
                <a:lnTo>
                  <a:pt x="23749" y="87064"/>
                </a:lnTo>
                <a:cubicBezTo>
                  <a:pt x="27882" y="80177"/>
                  <a:pt x="35291" y="75997"/>
                  <a:pt x="43318" y="75997"/>
                </a:cubicBezTo>
                <a:lnTo>
                  <a:pt x="88442" y="75997"/>
                </a:lnTo>
                <a:cubicBezTo>
                  <a:pt x="124588" y="14772"/>
                  <a:pt x="178499" y="11685"/>
                  <a:pt x="214550" y="16957"/>
                </a:cubicBezTo>
                <a:cubicBezTo>
                  <a:pt x="220630" y="17859"/>
                  <a:pt x="225380" y="22609"/>
                  <a:pt x="226235" y="28641"/>
                </a:cubicBezTo>
                <a:cubicBezTo>
                  <a:pt x="231507" y="64693"/>
                  <a:pt x="228420" y="118603"/>
                  <a:pt x="167194" y="154750"/>
                </a:cubicBezTo>
                <a:lnTo>
                  <a:pt x="167194" y="199873"/>
                </a:lnTo>
                <a:cubicBezTo>
                  <a:pt x="167194" y="207900"/>
                  <a:pt x="163014" y="215310"/>
                  <a:pt x="156127" y="219442"/>
                </a:cubicBezTo>
                <a:lnTo>
                  <a:pt x="114234" y="244569"/>
                </a:lnTo>
                <a:cubicBezTo>
                  <a:pt x="104116" y="250649"/>
                  <a:pt x="91197" y="243334"/>
                  <a:pt x="91197" y="231554"/>
                </a:cubicBezTo>
                <a:lnTo>
                  <a:pt x="91197" y="182394"/>
                </a:lnTo>
                <a:cubicBezTo>
                  <a:pt x="91197" y="165627"/>
                  <a:pt x="77565" y="151995"/>
                  <a:pt x="60798" y="151995"/>
                </a:cubicBezTo>
                <a:lnTo>
                  <a:pt x="60750" y="151995"/>
                </a:lnTo>
                <a:close/>
                <a:moveTo>
                  <a:pt x="189993" y="75997"/>
                </a:moveTo>
                <a:cubicBezTo>
                  <a:pt x="189993" y="63414"/>
                  <a:pt x="179777" y="53198"/>
                  <a:pt x="167194" y="53198"/>
                </a:cubicBezTo>
                <a:cubicBezTo>
                  <a:pt x="154611" y="53198"/>
                  <a:pt x="144395" y="63414"/>
                  <a:pt x="144395" y="75997"/>
                </a:cubicBezTo>
                <a:cubicBezTo>
                  <a:pt x="144395" y="88581"/>
                  <a:pt x="154611" y="98797"/>
                  <a:pt x="167194" y="98797"/>
                </a:cubicBezTo>
                <a:cubicBezTo>
                  <a:pt x="179777" y="98797"/>
                  <a:pt x="189993" y="88581"/>
                  <a:pt x="189993" y="7599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32170" y="5577951"/>
            <a:ext cx="523672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for Growth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2170" y="5934632"/>
            <a:ext cx="5212404" cy="71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represents </a:t>
            </a:r>
            <a:r>
              <a:rPr lang="en-US" sz="1149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important step in developing core mechanical engineering skills</a:t>
            </a:r>
            <a:r>
              <a:rPr lang="en-US" sz="1149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establishing a solid foundation for future projects and professional advancement in the field.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0723" y="1134894"/>
            <a:ext cx="5107021" cy="3720830"/>
          </a:xfrm>
          <a:custGeom>
            <a:avLst/>
            <a:gdLst/>
            <a:ahLst/>
            <a:cxnLst/>
            <a:rect l="l" t="t" r="r" b="b"/>
            <a:pathLst>
              <a:path w="5107021" h="3720830">
                <a:moveTo>
                  <a:pt x="64854" y="0"/>
                </a:moveTo>
                <a:lnTo>
                  <a:pt x="5042167" y="0"/>
                </a:lnTo>
                <a:cubicBezTo>
                  <a:pt x="5077985" y="0"/>
                  <a:pt x="5107021" y="29036"/>
                  <a:pt x="5107021" y="64854"/>
                </a:cubicBezTo>
                <a:lnTo>
                  <a:pt x="5107021" y="3655976"/>
                </a:lnTo>
                <a:cubicBezTo>
                  <a:pt x="5107021" y="3691794"/>
                  <a:pt x="5077985" y="3720830"/>
                  <a:pt x="5042167" y="3720830"/>
                </a:cubicBezTo>
                <a:lnTo>
                  <a:pt x="64854" y="3720830"/>
                </a:lnTo>
                <a:cubicBezTo>
                  <a:pt x="29036" y="3720830"/>
                  <a:pt x="0" y="3691794"/>
                  <a:pt x="0" y="3655976"/>
                </a:cubicBezTo>
                <a:lnTo>
                  <a:pt x="0" y="64854"/>
                </a:lnTo>
                <a:cubicBezTo>
                  <a:pt x="0" y="29060"/>
                  <a:pt x="29060" y="0"/>
                  <a:pt x="6485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https://kimi-web-img.moonshot.cn/img/images.squarespace-cdn.com/46a1e90035aac80b95ab7ebc0f4e2df4eb5c3017.jpg"/>
          <p:cNvPicPr>
            <a:picLocks noChangeAspect="1"/>
          </p:cNvPicPr>
          <p:nvPr/>
        </p:nvPicPr>
        <p:blipFill>
          <a:blip r:embed="rId3"/>
          <a:srcRect l="11397" r="11397"/>
          <a:stretch/>
        </p:blipFill>
        <p:spPr>
          <a:xfrm>
            <a:off x="6760723" y="1134894"/>
            <a:ext cx="5107021" cy="3720830"/>
          </a:xfrm>
          <a:prstGeom prst="roundRect">
            <a:avLst>
              <a:gd name="adj" fmla="val 1743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6763426" y="5016587"/>
            <a:ext cx="5104319" cy="1821234"/>
          </a:xfrm>
          <a:custGeom>
            <a:avLst/>
            <a:gdLst/>
            <a:ahLst/>
            <a:cxnLst/>
            <a:rect l="l" t="t" r="r" b="b"/>
            <a:pathLst>
              <a:path w="5104319" h="1821234">
                <a:moveTo>
                  <a:pt x="64854" y="0"/>
                </a:moveTo>
                <a:lnTo>
                  <a:pt x="5039465" y="0"/>
                </a:lnTo>
                <a:cubicBezTo>
                  <a:pt x="5075283" y="0"/>
                  <a:pt x="5104319" y="29036"/>
                  <a:pt x="5104319" y="64854"/>
                </a:cubicBezTo>
                <a:lnTo>
                  <a:pt x="5104319" y="1756380"/>
                </a:lnTo>
                <a:cubicBezTo>
                  <a:pt x="5104319" y="1792198"/>
                  <a:pt x="5075283" y="1821234"/>
                  <a:pt x="5039465" y="1821234"/>
                </a:cubicBezTo>
                <a:lnTo>
                  <a:pt x="64854" y="1821234"/>
                </a:lnTo>
                <a:cubicBezTo>
                  <a:pt x="29036" y="1821234"/>
                  <a:pt x="0" y="1792198"/>
                  <a:pt x="0" y="1756380"/>
                </a:cubicBezTo>
                <a:lnTo>
                  <a:pt x="0" y="64854"/>
                </a:lnTo>
                <a:cubicBezTo>
                  <a:pt x="0" y="29060"/>
                  <a:pt x="29060" y="0"/>
                  <a:pt x="6485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80947" y="5246271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81064" y="162128"/>
                </a:moveTo>
                <a:cubicBezTo>
                  <a:pt x="125804" y="162128"/>
                  <a:pt x="162128" y="125804"/>
                  <a:pt x="162128" y="81064"/>
                </a:cubicBezTo>
                <a:cubicBezTo>
                  <a:pt x="162128" y="36323"/>
                  <a:pt x="125804" y="0"/>
                  <a:pt x="81064" y="0"/>
                </a:cubicBezTo>
                <a:cubicBezTo>
                  <a:pt x="36323" y="0"/>
                  <a:pt x="0" y="36323"/>
                  <a:pt x="0" y="81064"/>
                </a:cubicBezTo>
                <a:cubicBezTo>
                  <a:pt x="0" y="125804"/>
                  <a:pt x="36323" y="162128"/>
                  <a:pt x="81064" y="162128"/>
                </a:cubicBezTo>
                <a:close/>
                <a:moveTo>
                  <a:pt x="107790" y="67353"/>
                </a:moveTo>
                <a:lnTo>
                  <a:pt x="82457" y="107885"/>
                </a:lnTo>
                <a:cubicBezTo>
                  <a:pt x="81127" y="110006"/>
                  <a:pt x="78847" y="111336"/>
                  <a:pt x="76346" y="111463"/>
                </a:cubicBezTo>
                <a:cubicBezTo>
                  <a:pt x="73844" y="111589"/>
                  <a:pt x="71437" y="110449"/>
                  <a:pt x="69949" y="108423"/>
                </a:cubicBezTo>
                <a:lnTo>
                  <a:pt x="54750" y="88157"/>
                </a:lnTo>
                <a:cubicBezTo>
                  <a:pt x="52217" y="84800"/>
                  <a:pt x="52913" y="80051"/>
                  <a:pt x="56270" y="77517"/>
                </a:cubicBezTo>
                <a:cubicBezTo>
                  <a:pt x="59626" y="74984"/>
                  <a:pt x="64376" y="75681"/>
                  <a:pt x="66909" y="79037"/>
                </a:cubicBezTo>
                <a:lnTo>
                  <a:pt x="75459" y="90437"/>
                </a:lnTo>
                <a:lnTo>
                  <a:pt x="94902" y="59310"/>
                </a:lnTo>
                <a:cubicBezTo>
                  <a:pt x="97118" y="55763"/>
                  <a:pt x="101805" y="54655"/>
                  <a:pt x="105383" y="56903"/>
                </a:cubicBezTo>
                <a:cubicBezTo>
                  <a:pt x="108961" y="59151"/>
                  <a:pt x="110038" y="63806"/>
                  <a:pt x="107790" y="6738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63341" y="5213845"/>
            <a:ext cx="458821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Success Metrics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960681" y="5570526"/>
            <a:ext cx="102951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Accuracy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051702" y="561916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181405" y="561916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1311107" y="561916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1440809" y="561916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1570511" y="561916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960681" y="5862356"/>
            <a:ext cx="94844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051702" y="591099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181405" y="591099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311107" y="591099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1440809" y="591099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1570511" y="591099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960681" y="6154185"/>
            <a:ext cx="99708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1051702" y="620282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1181405" y="620282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1311107" y="620282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1440809" y="620282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1570511" y="620282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960681" y="6446015"/>
            <a:ext cx="137808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Application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1051702" y="649465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1181405" y="649465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1311107" y="649465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1440809" y="649465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1570511" y="6494654"/>
            <a:ext cx="97277" cy="97277"/>
          </a:xfrm>
          <a:custGeom>
            <a:avLst/>
            <a:gdLst/>
            <a:ahLst/>
            <a:cxnLst/>
            <a:rect l="l" t="t" r="r" b="b"/>
            <a:pathLst>
              <a:path w="97277" h="97277">
                <a:moveTo>
                  <a:pt x="48638" y="0"/>
                </a:moveTo>
                <a:lnTo>
                  <a:pt x="48638" y="0"/>
                </a:lnTo>
                <a:cubicBezTo>
                  <a:pt x="75483" y="0"/>
                  <a:pt x="97277" y="21794"/>
                  <a:pt x="97277" y="48638"/>
                </a:cubicBezTo>
                <a:lnTo>
                  <a:pt x="97277" y="48638"/>
                </a:lnTo>
                <a:cubicBezTo>
                  <a:pt x="97277" y="75483"/>
                  <a:pt x="75483" y="97277"/>
                  <a:pt x="48638" y="97277"/>
                </a:cubicBezTo>
                <a:lnTo>
                  <a:pt x="48638" y="97277"/>
                </a:lnTo>
                <a:cubicBezTo>
                  <a:pt x="21794" y="97277"/>
                  <a:pt x="0" y="75483"/>
                  <a:pt x="0" y="4863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332362" y="6978329"/>
            <a:ext cx="11527277" cy="518809"/>
          </a:xfrm>
          <a:custGeom>
            <a:avLst/>
            <a:gdLst/>
            <a:ahLst/>
            <a:cxnLst/>
            <a:rect l="l" t="t" r="r" b="b"/>
            <a:pathLst>
              <a:path w="11527277" h="518809">
                <a:moveTo>
                  <a:pt x="64851" y="0"/>
                </a:moveTo>
                <a:lnTo>
                  <a:pt x="11462426" y="0"/>
                </a:lnTo>
                <a:cubicBezTo>
                  <a:pt x="11498242" y="0"/>
                  <a:pt x="11527277" y="29035"/>
                  <a:pt x="11527277" y="64851"/>
                </a:cubicBezTo>
                <a:lnTo>
                  <a:pt x="11527277" y="453957"/>
                </a:lnTo>
                <a:cubicBezTo>
                  <a:pt x="11527277" y="489774"/>
                  <a:pt x="11498242" y="518809"/>
                  <a:pt x="11462426" y="518809"/>
                </a:cubicBezTo>
                <a:lnTo>
                  <a:pt x="64851" y="518809"/>
                </a:lnTo>
                <a:cubicBezTo>
                  <a:pt x="29035" y="518809"/>
                  <a:pt x="0" y="489774"/>
                  <a:pt x="0" y="453957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00"/>
                </a:srgbClr>
              </a:gs>
            </a:gsLst>
            <a:lin ang="0" scaled="1"/>
          </a:gradFill>
          <a:ln w="254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17795" y="7116138"/>
            <a:ext cx="212793" cy="243191"/>
          </a:xfrm>
          <a:custGeom>
            <a:avLst/>
            <a:gdLst/>
            <a:ahLst/>
            <a:cxnLst/>
            <a:rect l="l" t="t" r="r" b="b"/>
            <a:pathLst>
              <a:path w="212793" h="243191">
                <a:moveTo>
                  <a:pt x="15199" y="0"/>
                </a:moveTo>
                <a:cubicBezTo>
                  <a:pt x="23607" y="0"/>
                  <a:pt x="30399" y="6792"/>
                  <a:pt x="30399" y="15199"/>
                </a:cubicBezTo>
                <a:lnTo>
                  <a:pt x="30399" y="22799"/>
                </a:lnTo>
                <a:lnTo>
                  <a:pt x="63173" y="14629"/>
                </a:lnTo>
                <a:cubicBezTo>
                  <a:pt x="81270" y="10117"/>
                  <a:pt x="100364" y="12207"/>
                  <a:pt x="117083" y="20567"/>
                </a:cubicBezTo>
                <a:cubicBezTo>
                  <a:pt x="139075" y="31586"/>
                  <a:pt x="164962" y="31586"/>
                  <a:pt x="186953" y="20567"/>
                </a:cubicBezTo>
                <a:lnTo>
                  <a:pt x="191513" y="18287"/>
                </a:lnTo>
                <a:cubicBezTo>
                  <a:pt x="201298" y="13347"/>
                  <a:pt x="212793" y="20472"/>
                  <a:pt x="212793" y="31396"/>
                </a:cubicBezTo>
                <a:lnTo>
                  <a:pt x="212793" y="164249"/>
                </a:lnTo>
                <a:cubicBezTo>
                  <a:pt x="212793" y="170567"/>
                  <a:pt x="208850" y="176266"/>
                  <a:pt x="202913" y="178499"/>
                </a:cubicBezTo>
                <a:lnTo>
                  <a:pt x="186431" y="184674"/>
                </a:lnTo>
                <a:cubicBezTo>
                  <a:pt x="164487" y="192891"/>
                  <a:pt x="140073" y="191608"/>
                  <a:pt x="119126" y="181159"/>
                </a:cubicBezTo>
                <a:cubicBezTo>
                  <a:pt x="101124" y="172134"/>
                  <a:pt x="80462" y="169902"/>
                  <a:pt x="60940" y="174794"/>
                </a:cubicBezTo>
                <a:lnTo>
                  <a:pt x="30399" y="182394"/>
                </a:lnTo>
                <a:lnTo>
                  <a:pt x="30399" y="227992"/>
                </a:lnTo>
                <a:cubicBezTo>
                  <a:pt x="30399" y="236399"/>
                  <a:pt x="23607" y="243191"/>
                  <a:pt x="15199" y="243191"/>
                </a:cubicBezTo>
                <a:cubicBezTo>
                  <a:pt x="6792" y="243191"/>
                  <a:pt x="0" y="236399"/>
                  <a:pt x="0" y="227992"/>
                </a:cubicBezTo>
                <a:lnTo>
                  <a:pt x="0" y="15199"/>
                </a:lnTo>
                <a:cubicBezTo>
                  <a:pt x="0" y="6792"/>
                  <a:pt x="6792" y="0"/>
                  <a:pt x="15199" y="0"/>
                </a:cubicBezTo>
                <a:close/>
                <a:moveTo>
                  <a:pt x="30399" y="88869"/>
                </a:moveTo>
                <a:lnTo>
                  <a:pt x="60798" y="82267"/>
                </a:lnTo>
                <a:lnTo>
                  <a:pt x="60798" y="113379"/>
                </a:lnTo>
                <a:lnTo>
                  <a:pt x="30399" y="119981"/>
                </a:lnTo>
                <a:lnTo>
                  <a:pt x="30399" y="151092"/>
                </a:lnTo>
                <a:lnTo>
                  <a:pt x="53578" y="145297"/>
                </a:lnTo>
                <a:cubicBezTo>
                  <a:pt x="56001" y="144680"/>
                  <a:pt x="58375" y="144157"/>
                  <a:pt x="60798" y="143730"/>
                </a:cubicBezTo>
                <a:lnTo>
                  <a:pt x="60798" y="113379"/>
                </a:lnTo>
                <a:lnTo>
                  <a:pt x="79275" y="109389"/>
                </a:lnTo>
                <a:cubicBezTo>
                  <a:pt x="83217" y="108534"/>
                  <a:pt x="87207" y="108201"/>
                  <a:pt x="91197" y="108391"/>
                </a:cubicBezTo>
                <a:lnTo>
                  <a:pt x="91197" y="77992"/>
                </a:lnTo>
                <a:cubicBezTo>
                  <a:pt x="97657" y="78182"/>
                  <a:pt x="104116" y="79227"/>
                  <a:pt x="110386" y="81032"/>
                </a:cubicBezTo>
                <a:lnTo>
                  <a:pt x="121596" y="84310"/>
                </a:lnTo>
                <a:lnTo>
                  <a:pt x="121596" y="115991"/>
                </a:lnTo>
                <a:lnTo>
                  <a:pt x="101789" y="110149"/>
                </a:lnTo>
                <a:cubicBezTo>
                  <a:pt x="98322" y="109151"/>
                  <a:pt x="94759" y="108534"/>
                  <a:pt x="91197" y="108344"/>
                </a:cubicBezTo>
                <a:lnTo>
                  <a:pt x="91197" y="142258"/>
                </a:lnTo>
                <a:cubicBezTo>
                  <a:pt x="101551" y="143160"/>
                  <a:pt x="111764" y="145440"/>
                  <a:pt x="121596" y="149097"/>
                </a:cubicBezTo>
                <a:lnTo>
                  <a:pt x="121596" y="115943"/>
                </a:lnTo>
                <a:lnTo>
                  <a:pt x="132378" y="119126"/>
                </a:lnTo>
                <a:cubicBezTo>
                  <a:pt x="138790" y="121026"/>
                  <a:pt x="145345" y="122166"/>
                  <a:pt x="151995" y="122641"/>
                </a:cubicBezTo>
                <a:lnTo>
                  <a:pt x="151995" y="92147"/>
                </a:lnTo>
                <a:cubicBezTo>
                  <a:pt x="148290" y="91767"/>
                  <a:pt x="144585" y="91054"/>
                  <a:pt x="140975" y="90009"/>
                </a:cubicBezTo>
                <a:lnTo>
                  <a:pt x="121596" y="84310"/>
                </a:lnTo>
                <a:lnTo>
                  <a:pt x="121596" y="54861"/>
                </a:lnTo>
                <a:cubicBezTo>
                  <a:pt x="115421" y="53056"/>
                  <a:pt x="109341" y="50681"/>
                  <a:pt x="103451" y="47736"/>
                </a:cubicBezTo>
                <a:cubicBezTo>
                  <a:pt x="99557" y="45788"/>
                  <a:pt x="95424" y="44411"/>
                  <a:pt x="91197" y="43556"/>
                </a:cubicBezTo>
                <a:lnTo>
                  <a:pt x="91197" y="77945"/>
                </a:lnTo>
                <a:cubicBezTo>
                  <a:pt x="85022" y="77755"/>
                  <a:pt x="78847" y="78325"/>
                  <a:pt x="72815" y="79655"/>
                </a:cubicBezTo>
                <a:lnTo>
                  <a:pt x="60798" y="82267"/>
                </a:lnTo>
                <a:lnTo>
                  <a:pt x="60798" y="46548"/>
                </a:lnTo>
                <a:lnTo>
                  <a:pt x="30399" y="54148"/>
                </a:lnTo>
                <a:lnTo>
                  <a:pt x="30399" y="88869"/>
                </a:lnTo>
                <a:close/>
                <a:moveTo>
                  <a:pt x="151995" y="159452"/>
                </a:moveTo>
                <a:cubicBezTo>
                  <a:pt x="159974" y="160164"/>
                  <a:pt x="168097" y="159119"/>
                  <a:pt x="175744" y="156222"/>
                </a:cubicBezTo>
                <a:lnTo>
                  <a:pt x="182394" y="153752"/>
                </a:lnTo>
                <a:lnTo>
                  <a:pt x="182394" y="119696"/>
                </a:lnTo>
                <a:lnTo>
                  <a:pt x="178641" y="120551"/>
                </a:lnTo>
                <a:cubicBezTo>
                  <a:pt x="169902" y="122593"/>
                  <a:pt x="160924" y="123258"/>
                  <a:pt x="151995" y="122688"/>
                </a:cubicBezTo>
                <a:lnTo>
                  <a:pt x="151995" y="159452"/>
                </a:lnTo>
                <a:close/>
                <a:moveTo>
                  <a:pt x="182394" y="88489"/>
                </a:moveTo>
                <a:lnTo>
                  <a:pt x="182394" y="54861"/>
                </a:lnTo>
                <a:cubicBezTo>
                  <a:pt x="172466" y="57758"/>
                  <a:pt x="162254" y="59183"/>
                  <a:pt x="151995" y="59183"/>
                </a:cubicBezTo>
                <a:lnTo>
                  <a:pt x="151995" y="92147"/>
                </a:lnTo>
                <a:cubicBezTo>
                  <a:pt x="158597" y="92812"/>
                  <a:pt x="165294" y="92384"/>
                  <a:pt x="171801" y="90912"/>
                </a:cubicBezTo>
                <a:lnTo>
                  <a:pt x="182394" y="8844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903862" y="7124244"/>
            <a:ext cx="989789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Looking Forward:</a:t>
            </a:r>
            <a:r>
              <a:rPr lang="en-US" sz="1149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project marks the beginning of a journey toward advanced mechanical design expertise, with each experience building upon the last.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rorwxhrqmjjj5q-static.micyjz.com/6c3cd080ecc429d5d4d2085c07e9598f02ff4710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638800" y="147955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334173" y="1746256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34185" y="2660656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21657" y="3311531"/>
            <a:ext cx="2111375" cy="1416050"/>
          </a:xfrm>
          <a:custGeom>
            <a:avLst/>
            <a:gdLst/>
            <a:ahLst/>
            <a:cxnLst/>
            <a:rect l="l" t="t" r="r" b="b"/>
            <a:pathLst>
              <a:path w="2111375" h="1416050">
                <a:moveTo>
                  <a:pt x="76198" y="0"/>
                </a:moveTo>
                <a:lnTo>
                  <a:pt x="2035177" y="0"/>
                </a:lnTo>
                <a:cubicBezTo>
                  <a:pt x="2077260" y="0"/>
                  <a:pt x="2111375" y="34115"/>
                  <a:pt x="2111375" y="76198"/>
                </a:cubicBezTo>
                <a:lnTo>
                  <a:pt x="2111375" y="1339852"/>
                </a:lnTo>
                <a:cubicBezTo>
                  <a:pt x="2111375" y="1381935"/>
                  <a:pt x="2077260" y="1416050"/>
                  <a:pt x="2035177" y="1416050"/>
                </a:cubicBezTo>
                <a:lnTo>
                  <a:pt x="76198" y="1416050"/>
                </a:lnTo>
                <a:cubicBezTo>
                  <a:pt x="34115" y="1416050"/>
                  <a:pt x="0" y="1381935"/>
                  <a:pt x="0" y="13398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04605" y="3543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47" y="42863"/>
                </a:moveTo>
                <a:cubicBezTo>
                  <a:pt x="14399" y="42863"/>
                  <a:pt x="0" y="57262"/>
                  <a:pt x="0" y="75009"/>
                </a:cubicBezTo>
                <a:cubicBezTo>
                  <a:pt x="0" y="85122"/>
                  <a:pt x="4755" y="94632"/>
                  <a:pt x="12859" y="100727"/>
                </a:cubicBezTo>
                <a:lnTo>
                  <a:pt x="152162" y="205204"/>
                </a:lnTo>
                <a:cubicBezTo>
                  <a:pt x="163614" y="213777"/>
                  <a:pt x="179286" y="213777"/>
                  <a:pt x="190738" y="205204"/>
                </a:cubicBezTo>
                <a:lnTo>
                  <a:pt x="330041" y="100727"/>
                </a:lnTo>
                <a:cubicBezTo>
                  <a:pt x="338145" y="94632"/>
                  <a:pt x="342900" y="85122"/>
                  <a:pt x="342900" y="75009"/>
                </a:cubicBezTo>
                <a:cubicBezTo>
                  <a:pt x="342900" y="57262"/>
                  <a:pt x="328501" y="42862"/>
                  <a:pt x="310753" y="42862"/>
                </a:cubicBezTo>
                <a:lnTo>
                  <a:pt x="32147" y="42863"/>
                </a:lnTo>
                <a:close/>
                <a:moveTo>
                  <a:pt x="0" y="131266"/>
                </a:moveTo>
                <a:lnTo>
                  <a:pt x="0" y="257175"/>
                </a:lnTo>
                <a:cubicBezTo>
                  <a:pt x="0" y="280816"/>
                  <a:pt x="19221" y="300038"/>
                  <a:pt x="42863" y="300038"/>
                </a:cubicBezTo>
                <a:lnTo>
                  <a:pt x="300038" y="300038"/>
                </a:lnTo>
                <a:cubicBezTo>
                  <a:pt x="323679" y="300038"/>
                  <a:pt x="342900" y="280816"/>
                  <a:pt x="342900" y="257175"/>
                </a:cubicBezTo>
                <a:lnTo>
                  <a:pt x="342900" y="131266"/>
                </a:lnTo>
                <a:lnTo>
                  <a:pt x="210026" y="230922"/>
                </a:lnTo>
                <a:cubicBezTo>
                  <a:pt x="187189" y="248067"/>
                  <a:pt x="155711" y="248067"/>
                  <a:pt x="132874" y="230922"/>
                </a:cubicBezTo>
                <a:lnTo>
                  <a:pt x="0" y="131266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810570" y="40005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15332" y="42672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for Discussion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41602" y="3311531"/>
            <a:ext cx="2111375" cy="1416050"/>
          </a:xfrm>
          <a:custGeom>
            <a:avLst/>
            <a:gdLst/>
            <a:ahLst/>
            <a:cxnLst/>
            <a:rect l="l" t="t" r="r" b="b"/>
            <a:pathLst>
              <a:path w="2111375" h="1416050">
                <a:moveTo>
                  <a:pt x="76198" y="0"/>
                </a:moveTo>
                <a:lnTo>
                  <a:pt x="2035177" y="0"/>
                </a:lnTo>
                <a:cubicBezTo>
                  <a:pt x="2077260" y="0"/>
                  <a:pt x="2111375" y="34115"/>
                  <a:pt x="2111375" y="76198"/>
                </a:cubicBezTo>
                <a:lnTo>
                  <a:pt x="2111375" y="1339852"/>
                </a:lnTo>
                <a:cubicBezTo>
                  <a:pt x="2111375" y="1381935"/>
                  <a:pt x="2077260" y="1416050"/>
                  <a:pt x="2035177" y="1416050"/>
                </a:cubicBezTo>
                <a:lnTo>
                  <a:pt x="76198" y="1416050"/>
                </a:lnTo>
                <a:cubicBezTo>
                  <a:pt x="34115" y="1416050"/>
                  <a:pt x="0" y="1381935"/>
                  <a:pt x="0" y="13398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03119" y="35433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30515" y="40005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35278" y="42672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Welcome &amp; Appreciated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61548" y="3311531"/>
            <a:ext cx="2111375" cy="1416050"/>
          </a:xfrm>
          <a:custGeom>
            <a:avLst/>
            <a:gdLst/>
            <a:ahLst/>
            <a:cxnLst/>
            <a:rect l="l" t="t" r="r" b="b"/>
            <a:pathLst>
              <a:path w="2111375" h="1416050">
                <a:moveTo>
                  <a:pt x="76198" y="0"/>
                </a:moveTo>
                <a:lnTo>
                  <a:pt x="2035177" y="0"/>
                </a:lnTo>
                <a:cubicBezTo>
                  <a:pt x="2077260" y="0"/>
                  <a:pt x="2111375" y="34115"/>
                  <a:pt x="2111375" y="76198"/>
                </a:cubicBezTo>
                <a:lnTo>
                  <a:pt x="2111375" y="1339852"/>
                </a:lnTo>
                <a:cubicBezTo>
                  <a:pt x="2111375" y="1381935"/>
                  <a:pt x="2077260" y="1416050"/>
                  <a:pt x="2035177" y="1416050"/>
                </a:cubicBezTo>
                <a:lnTo>
                  <a:pt x="76198" y="1416050"/>
                </a:lnTo>
                <a:cubicBezTo>
                  <a:pt x="34115" y="1416050"/>
                  <a:pt x="0" y="1381935"/>
                  <a:pt x="0" y="13398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8467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323064" y="35433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80089" y="57061"/>
                </a:moveTo>
                <a:lnTo>
                  <a:pt x="101999" y="143857"/>
                </a:lnTo>
                <a:cubicBezTo>
                  <a:pt x="98919" y="147273"/>
                  <a:pt x="99053" y="152564"/>
                  <a:pt x="102334" y="155845"/>
                </a:cubicBezTo>
                <a:cubicBezTo>
                  <a:pt x="122761" y="176272"/>
                  <a:pt x="155912" y="176272"/>
                  <a:pt x="176339" y="155845"/>
                </a:cubicBezTo>
                <a:lnTo>
                  <a:pt x="197636" y="134548"/>
                </a:lnTo>
                <a:cubicBezTo>
                  <a:pt x="200449" y="131735"/>
                  <a:pt x="203999" y="130195"/>
                  <a:pt x="207615" y="129927"/>
                </a:cubicBezTo>
                <a:cubicBezTo>
                  <a:pt x="212169" y="129525"/>
                  <a:pt x="216857" y="131065"/>
                  <a:pt x="220340" y="134548"/>
                </a:cubicBezTo>
                <a:lnTo>
                  <a:pt x="338614" y="251817"/>
                </a:lnTo>
                <a:lnTo>
                  <a:pt x="385763" y="214313"/>
                </a:lnTo>
                <a:lnTo>
                  <a:pt x="385763" y="21431"/>
                </a:lnTo>
                <a:lnTo>
                  <a:pt x="310753" y="64294"/>
                </a:lnTo>
                <a:lnTo>
                  <a:pt x="294814" y="53645"/>
                </a:lnTo>
                <a:cubicBezTo>
                  <a:pt x="284232" y="46613"/>
                  <a:pt x="271842" y="42863"/>
                  <a:pt x="259117" y="42863"/>
                </a:cubicBezTo>
                <a:lnTo>
                  <a:pt x="211968" y="42863"/>
                </a:lnTo>
                <a:cubicBezTo>
                  <a:pt x="211232" y="42863"/>
                  <a:pt x="210428" y="42863"/>
                  <a:pt x="209691" y="42929"/>
                </a:cubicBezTo>
                <a:cubicBezTo>
                  <a:pt x="198373" y="43532"/>
                  <a:pt x="187724" y="48622"/>
                  <a:pt x="180089" y="57061"/>
                </a:cubicBezTo>
                <a:close/>
                <a:moveTo>
                  <a:pt x="78090" y="122359"/>
                </a:moveTo>
                <a:lnTo>
                  <a:pt x="149617" y="42863"/>
                </a:lnTo>
                <a:lnTo>
                  <a:pt x="123096" y="42863"/>
                </a:lnTo>
                <a:cubicBezTo>
                  <a:pt x="106018" y="42863"/>
                  <a:pt x="89676" y="49627"/>
                  <a:pt x="77621" y="61682"/>
                </a:cubicBezTo>
                <a:lnTo>
                  <a:pt x="75009" y="64294"/>
                </a:lnTo>
                <a:lnTo>
                  <a:pt x="0" y="21431"/>
                </a:lnTo>
                <a:lnTo>
                  <a:pt x="0" y="214313"/>
                </a:lnTo>
                <a:lnTo>
                  <a:pt x="104745" y="301578"/>
                </a:lnTo>
                <a:cubicBezTo>
                  <a:pt x="120149" y="314437"/>
                  <a:pt x="139571" y="321469"/>
                  <a:pt x="159596" y="321469"/>
                </a:cubicBezTo>
                <a:lnTo>
                  <a:pt x="170111" y="321469"/>
                </a:lnTo>
                <a:lnTo>
                  <a:pt x="165422" y="316781"/>
                </a:lnTo>
                <a:cubicBezTo>
                  <a:pt x="159127" y="310485"/>
                  <a:pt x="159127" y="300305"/>
                  <a:pt x="165422" y="294077"/>
                </a:cubicBezTo>
                <a:cubicBezTo>
                  <a:pt x="171718" y="287848"/>
                  <a:pt x="181898" y="287782"/>
                  <a:pt x="188126" y="294077"/>
                </a:cubicBezTo>
                <a:lnTo>
                  <a:pt x="215585" y="321536"/>
                </a:lnTo>
                <a:lnTo>
                  <a:pt x="221613" y="321536"/>
                </a:lnTo>
                <a:cubicBezTo>
                  <a:pt x="234404" y="321536"/>
                  <a:pt x="246928" y="318656"/>
                  <a:pt x="258314" y="313298"/>
                </a:cubicBezTo>
                <a:lnTo>
                  <a:pt x="240432" y="295349"/>
                </a:lnTo>
                <a:cubicBezTo>
                  <a:pt x="234136" y="289054"/>
                  <a:pt x="234136" y="278874"/>
                  <a:pt x="240432" y="272646"/>
                </a:cubicBezTo>
                <a:cubicBezTo>
                  <a:pt x="246727" y="266417"/>
                  <a:pt x="256907" y="266350"/>
                  <a:pt x="263136" y="272646"/>
                </a:cubicBezTo>
                <a:lnTo>
                  <a:pt x="284567" y="294077"/>
                </a:lnTo>
                <a:lnTo>
                  <a:pt x="296287" y="282357"/>
                </a:lnTo>
                <a:cubicBezTo>
                  <a:pt x="302248" y="276396"/>
                  <a:pt x="303989" y="267757"/>
                  <a:pt x="301377" y="260189"/>
                </a:cubicBezTo>
                <a:lnTo>
                  <a:pt x="209022" y="168570"/>
                </a:lnTo>
                <a:lnTo>
                  <a:pt x="199043" y="178549"/>
                </a:lnTo>
                <a:cubicBezTo>
                  <a:pt x="166025" y="211567"/>
                  <a:pt x="112581" y="211567"/>
                  <a:pt x="79564" y="178549"/>
                </a:cubicBezTo>
                <a:cubicBezTo>
                  <a:pt x="64160" y="163145"/>
                  <a:pt x="63557" y="138432"/>
                  <a:pt x="78090" y="12229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50460" y="40005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55223" y="42672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Opportunities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54301" y="5226053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73438" y="5111753"/>
            <a:ext cx="3848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Mechanical Shaft and Support Component Design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28000" y="5226053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304364" y="5181600"/>
            <a:ext cx="1352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07A5F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1378</Words>
  <Application>Microsoft Office PowerPoint</Application>
  <PresentationFormat>Widescreen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Mechanical Shaft and Support Component Design</dc:title>
  <dc:subject>Mechanical Shaft and Support Component Design</dc:subject>
  <dc:creator>Kimi</dc:creator>
  <cp:lastModifiedBy>Frais Asghar</cp:lastModifiedBy>
  <cp:revision>2</cp:revision>
  <cp:lastPrinted>2026-02-03T18:08:42Z</cp:lastPrinted>
  <dcterms:created xsi:type="dcterms:W3CDTF">2026-02-03T18:05:45Z</dcterms:created>
  <dcterms:modified xsi:type="dcterms:W3CDTF">2026-02-03T18:08:48Z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{"Label":"Mechanical Shaft and Support Component Design","ContentProducer":"001191110108MACG2KBH8F10000","ProduceID":"19c24a70-0e22-8c12-8000-0000aa84292a","ReservedCode1":"","ContentPropagator":"001191110108MACG2KBH8F20000","PropagateID":"19c24a70-0e22-8c12-8000-0000aa84292a","ReservedCode2":""}</vt:lpwstr>
  </property>
</Properties>
</file>